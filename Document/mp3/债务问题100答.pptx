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9" r:id="rId2"/>
    <p:sldId id="261" r:id="rId3"/>
    <p:sldId id="276" r:id="rId4"/>
    <p:sldId id="277" r:id="rId5"/>
    <p:sldId id="278" r:id="rId6"/>
    <p:sldId id="279" r:id="rId7"/>
    <p:sldId id="280" r:id="rId8"/>
    <p:sldId id="281" r:id="rId9"/>
    <p:sldId id="282" r:id="rId10"/>
    <p:sldId id="283"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125" d="100"/>
          <a:sy n="125" d="100"/>
        </p:scale>
        <p:origin x="-384" y="7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BDDBF46-1857-40F4-9481-11A94C3F9AC7}" type="datetimeFigureOut">
              <a:rPr lang="zh-CN" altLang="en-US" smtClean="0"/>
              <a:pPr/>
              <a:t>2019/10/3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5CA0CF-4AD8-40A1-ADDB-2CF4F7D2AEEC}"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BDDBF46-1857-40F4-9481-11A94C3F9AC7}" type="datetimeFigureOut">
              <a:rPr lang="zh-CN" altLang="en-US" smtClean="0"/>
              <a:pPr/>
              <a:t>2019/10/3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5CA0CF-4AD8-40A1-ADDB-2CF4F7D2AEEC}"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EBDDBF46-1857-40F4-9481-11A94C3F9AC7}" type="datetimeFigureOut">
              <a:rPr lang="zh-CN" altLang="en-US" smtClean="0"/>
              <a:pPr/>
              <a:t>2019/10/3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5CA0CF-4AD8-40A1-ADDB-2CF4F7D2AEEC}"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42901" y="2311401"/>
            <a:ext cx="3009900" cy="65373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3505201" y="2311401"/>
            <a:ext cx="3009900" cy="65373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BDDBF46-1857-40F4-9481-11A94C3F9AC7}" type="datetimeFigureOut">
              <a:rPr lang="zh-CN" altLang="en-US" smtClean="0"/>
              <a:pPr/>
              <a:t>2019/10/3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5CA0CF-4AD8-40A1-ADDB-2CF4F7D2AEEC}"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BDDBF46-1857-40F4-9481-11A94C3F9AC7}" type="datetimeFigureOut">
              <a:rPr lang="zh-CN" altLang="en-US" smtClean="0"/>
              <a:pPr/>
              <a:t>2019/10/3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15CA0CF-4AD8-40A1-ADDB-2CF4F7D2AEEC}"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BDDBF46-1857-40F4-9481-11A94C3F9AC7}" type="datetimeFigureOut">
              <a:rPr lang="zh-CN" altLang="en-US" smtClean="0"/>
              <a:pPr/>
              <a:t>2019/10/3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15CA0CF-4AD8-40A1-ADDB-2CF4F7D2AEEC}"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BDDBF46-1857-40F4-9481-11A94C3F9AC7}" type="datetimeFigureOut">
              <a:rPr lang="zh-CN" altLang="en-US" smtClean="0"/>
              <a:pPr/>
              <a:t>2019/10/3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15CA0CF-4AD8-40A1-ADDB-2CF4F7D2AEEC}"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BDDBF46-1857-40F4-9481-11A94C3F9AC7}" type="datetimeFigureOut">
              <a:rPr lang="zh-CN" altLang="en-US" smtClean="0"/>
              <a:pPr/>
              <a:t>2019/10/3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5CA0CF-4AD8-40A1-ADDB-2CF4F7D2AEEC}"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BDDBF46-1857-40F4-9481-11A94C3F9AC7}" type="datetimeFigureOut">
              <a:rPr lang="zh-CN" altLang="en-US" smtClean="0"/>
              <a:pPr/>
              <a:t>2019/10/3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5CA0CF-4AD8-40A1-ADDB-2CF4F7D2AEEC}"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BDDBF46-1857-40F4-9481-11A94C3F9AC7}" type="datetimeFigureOut">
              <a:rPr lang="zh-CN" altLang="en-US" smtClean="0"/>
              <a:pPr/>
              <a:t>2019/10/3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5CA0CF-4AD8-40A1-ADDB-2CF4F7D2AEEC}"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4972049" y="396875"/>
            <a:ext cx="1543051" cy="84518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42901" y="396875"/>
            <a:ext cx="4476751" cy="84518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BDDBF46-1857-40F4-9481-11A94C3F9AC7}" type="datetimeFigureOut">
              <a:rPr lang="zh-CN" altLang="en-US" smtClean="0"/>
              <a:pPr/>
              <a:t>2019/10/3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5CA0CF-4AD8-40A1-ADDB-2CF4F7D2AEEC}"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DDBF46-1857-40F4-9481-11A94C3F9AC7}" type="datetimeFigureOut">
              <a:rPr lang="zh-CN" altLang="en-US" smtClean="0"/>
              <a:pPr/>
              <a:t>2019/10/3</a:t>
            </a:fld>
            <a:endParaRPr lang="zh-CN" altLang="en-US"/>
          </a:p>
        </p:txBody>
      </p:sp>
      <p:sp>
        <p:nvSpPr>
          <p:cNvPr id="5" name="页脚占位符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5CA0CF-4AD8-40A1-ADDB-2CF4F7D2AEEC}"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9" name="矩形 8"/>
          <p:cNvSpPr/>
          <p:nvPr/>
        </p:nvSpPr>
        <p:spPr>
          <a:xfrm>
            <a:off x="928662" y="2391313"/>
            <a:ext cx="7286676" cy="132343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8000" b="1" cap="none" spc="0" dirty="0" smtClean="0">
                <a:ln w="11430"/>
                <a:solidFill>
                  <a:srgbClr val="FF0000"/>
                </a:solidFill>
                <a:effectLst>
                  <a:outerShdw blurRad="50800" dist="39000" dir="5460000" algn="tl">
                    <a:srgbClr val="000000">
                      <a:alpha val="38000"/>
                    </a:srgbClr>
                  </a:outerShdw>
                </a:effectLst>
              </a:rPr>
              <a:t>债务问题</a:t>
            </a:r>
            <a:r>
              <a:rPr lang="en-US" altLang="zh-CN" sz="8000" b="1" cap="none" spc="0" dirty="0" smtClean="0">
                <a:ln w="11430"/>
                <a:solidFill>
                  <a:srgbClr val="FF0000"/>
                </a:solidFill>
                <a:effectLst>
                  <a:outerShdw blurRad="50800" dist="39000" dir="5460000" algn="tl">
                    <a:srgbClr val="000000">
                      <a:alpha val="38000"/>
                    </a:srgbClr>
                  </a:outerShdw>
                </a:effectLst>
              </a:rPr>
              <a:t>100</a:t>
            </a:r>
            <a:r>
              <a:rPr lang="zh-CN" altLang="en-US" sz="8000" b="1" cap="none" spc="0" dirty="0" smtClean="0">
                <a:ln w="11430"/>
                <a:solidFill>
                  <a:srgbClr val="FF0000"/>
                </a:solidFill>
                <a:effectLst>
                  <a:outerShdw blurRad="50800" dist="39000" dir="5460000" algn="tl">
                    <a:srgbClr val="000000">
                      <a:alpha val="38000"/>
                    </a:srgbClr>
                  </a:outerShdw>
                </a:effectLst>
              </a:rPr>
              <a:t>答</a:t>
            </a:r>
            <a:endParaRPr lang="zh-CN" altLang="en-US" sz="8000" b="1" cap="none" spc="0" dirty="0">
              <a:ln w="11430"/>
              <a:solidFill>
                <a:srgbClr val="FF0000"/>
              </a:soli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214422"/>
            <a:ext cx="8215370" cy="5500726"/>
          </a:xfrm>
        </p:spPr>
        <p:txBody>
          <a:bodyPr>
            <a:normAutofit/>
          </a:bodyPr>
          <a:lstStyle/>
          <a:p>
            <a:pPr algn="l">
              <a:lnSpc>
                <a:spcPts val="2200"/>
              </a:lnSpc>
            </a:pPr>
            <a:r>
              <a:rPr lang="en-US" altLang="zh-CN" sz="1800" b="1" dirty="0" smtClean="0"/>
              <a:t>1 </a:t>
            </a:r>
            <a:r>
              <a:rPr lang="zh-CN" altLang="en-US" sz="1800" b="1" dirty="0" smtClean="0"/>
              <a:t>、债务的类型</a:t>
            </a:r>
            <a:r>
              <a:rPr lang="zh-CN" altLang="en-US" sz="1400" dirty="0" smtClean="0"/>
              <a:t/>
            </a:r>
            <a:br>
              <a:rPr lang="zh-CN" altLang="en-US" sz="1400" dirty="0" smtClean="0"/>
            </a:br>
            <a:r>
              <a:rPr lang="zh-CN" altLang="en-US" sz="1400" dirty="0" smtClean="0"/>
              <a:t>        债务分两类，一类是良性负债，另一类是恶性负债，我们主要服务的群体是逾期群体，大家常见的房贷、车贷、包括企业债，如果收入及资产是可以覆盖的负债，我们暂时不讨论。</a:t>
            </a:r>
            <a:br>
              <a:rPr lang="zh-CN" altLang="en-US" sz="1400" dirty="0" smtClean="0"/>
            </a:br>
            <a:r>
              <a:rPr lang="zh-CN" altLang="en-US" sz="1400" dirty="0" smtClean="0"/>
              <a:t>我们讨论的是恶性负债，就是收入已经很难支撑的负债、企业的资产和营收已经很难维持的负债类型。由于企业类型负债也比较复杂，因此平台的侧重点还是个人负债。</a:t>
            </a:r>
            <a:br>
              <a:rPr lang="zh-CN" altLang="en-US" sz="1400" dirty="0" smtClean="0"/>
            </a:br>
            <a:r>
              <a:rPr lang="zh-CN" altLang="en-US" sz="1400" dirty="0" smtClean="0"/>
              <a:t>        个人负债形成的原因很多，我们从</a:t>
            </a:r>
            <a:r>
              <a:rPr lang="en-US" altLang="zh-CN" sz="1400" dirty="0" smtClean="0"/>
              <a:t>20000 </a:t>
            </a:r>
            <a:r>
              <a:rPr lang="zh-CN" altLang="en-US" sz="1400" dirty="0" smtClean="0"/>
              <a:t>多逾期群体的负债类型来看，有几大类：过度消费、家庭开支过大、家庭变故、生意失败、投资失败、赌博类负债。</a:t>
            </a:r>
            <a:br>
              <a:rPr lang="zh-CN" altLang="en-US" sz="1400" dirty="0" smtClean="0"/>
            </a:br>
            <a:r>
              <a:rPr lang="zh-CN" altLang="en-US" sz="1400" dirty="0" smtClean="0"/>
              <a:t>        过度消费群体，主要</a:t>
            </a:r>
            <a:r>
              <a:rPr lang="en-US" altLang="zh-CN" sz="1400" dirty="0" smtClean="0"/>
              <a:t>90</a:t>
            </a:r>
            <a:r>
              <a:rPr lang="zh-CN" altLang="en-US" sz="1400" dirty="0" smtClean="0"/>
              <a:t>、</a:t>
            </a:r>
            <a:r>
              <a:rPr lang="en-US" altLang="zh-CN" sz="1400" dirty="0" smtClean="0"/>
              <a:t>95</a:t>
            </a:r>
            <a:r>
              <a:rPr lang="zh-CN" altLang="en-US" sz="1400" dirty="0" smtClean="0"/>
              <a:t>、</a:t>
            </a:r>
            <a:r>
              <a:rPr lang="en-US" altLang="zh-CN" sz="1400" dirty="0" smtClean="0"/>
              <a:t>00 </a:t>
            </a:r>
            <a:r>
              <a:rPr lang="zh-CN" altLang="en-US" sz="1400" dirty="0" smtClean="0"/>
              <a:t>后居多，新一代的消费观念已经开始和欧美接轨，不求每天如何，活在当下最重要，所以，没有节制的消费行为和收入水平不高的矛盾，导致了许多年轻人超前消费，导致了逾期，比如信用卡、网贷、高炮、校园贷、消费分期等，其中以贷养贷、违规的网贷高利贷平台是这个群体逾期的重要原因，我们举例：</a:t>
            </a:r>
            <a:r>
              <a:rPr lang="en-US" altLang="zh-CN" sz="1400" dirty="0" smtClean="0"/>
              <a:t>10 </a:t>
            </a:r>
            <a:r>
              <a:rPr lang="zh-CN" altLang="en-US" sz="1400" dirty="0" smtClean="0"/>
              <a:t>个网贷平台总额</a:t>
            </a:r>
            <a:r>
              <a:rPr lang="en-US" altLang="zh-CN" sz="1400" dirty="0" smtClean="0"/>
              <a:t>30</a:t>
            </a:r>
            <a:r>
              <a:rPr lang="zh-CN" altLang="en-US" sz="1400" dirty="0" smtClean="0"/>
              <a:t>万，按照合规的利息</a:t>
            </a:r>
            <a:r>
              <a:rPr lang="en-US" altLang="zh-CN" sz="1400" dirty="0" smtClean="0"/>
              <a:t>24%</a:t>
            </a:r>
            <a:r>
              <a:rPr lang="zh-CN" altLang="en-US" sz="1400" dirty="0" smtClean="0"/>
              <a:t>来计算，一年的利息接近</a:t>
            </a:r>
            <a:r>
              <a:rPr lang="en-US" altLang="zh-CN" sz="1400" dirty="0" smtClean="0"/>
              <a:t>10 </a:t>
            </a:r>
            <a:r>
              <a:rPr lang="zh-CN" altLang="en-US" sz="1400" dirty="0" smtClean="0"/>
              <a:t>万，其中大部分的网贷平台的利息达到</a:t>
            </a:r>
            <a:r>
              <a:rPr lang="en-US" altLang="zh-CN" sz="1400" dirty="0" smtClean="0"/>
              <a:t>36%-90%</a:t>
            </a:r>
            <a:r>
              <a:rPr lang="zh-CN" altLang="en-US" sz="1400" dirty="0" smtClean="0"/>
              <a:t>，加上砍头息，高炮等因素，有些平台综合利率超过</a:t>
            </a:r>
            <a:r>
              <a:rPr lang="en-US" altLang="zh-CN" sz="1400" dirty="0" smtClean="0"/>
              <a:t>200%</a:t>
            </a:r>
            <a:r>
              <a:rPr lang="zh-CN" altLang="en-US" sz="1400" dirty="0" smtClean="0"/>
              <a:t>，甚至到达</a:t>
            </a:r>
            <a:r>
              <a:rPr lang="en-US" altLang="zh-CN" sz="1400" dirty="0" smtClean="0"/>
              <a:t>1000%</a:t>
            </a:r>
            <a:r>
              <a:rPr lang="zh-CN" altLang="en-US" sz="1400" dirty="0" smtClean="0"/>
              <a:t>，这里还有一个重要原因，互联网金融发展早期，监管的滞后性，导致太多平台违规，综上所述，这个群体很难还清自己的债务，逾期更是不可避免。</a:t>
            </a:r>
            <a:br>
              <a:rPr lang="zh-CN" altLang="en-US" sz="1400" dirty="0" smtClean="0"/>
            </a:br>
            <a:r>
              <a:rPr lang="zh-CN" altLang="en-US" sz="1400" dirty="0" smtClean="0"/>
              <a:t>         家庭开支原因及特殊变故，比如疾病、失业导致的逾期，也有不少的比例，中国目前的家庭负债率呈逐年上升趋势，导致了突发状况容易导致债务逾期。</a:t>
            </a:r>
            <a:r>
              <a:rPr lang="en-US" altLang="zh-CN" sz="1400" dirty="0" smtClean="0"/>
              <a:t/>
            </a:r>
            <a:br>
              <a:rPr lang="en-US" altLang="zh-CN" sz="1400" dirty="0" smtClean="0"/>
            </a:br>
            <a:r>
              <a:rPr lang="en-US" altLang="zh-CN" sz="1400" dirty="0" smtClean="0"/>
              <a:t>         </a:t>
            </a:r>
            <a:r>
              <a:rPr lang="zh-CN" altLang="en-US" sz="1400" dirty="0" smtClean="0"/>
              <a:t>生意失败导致的债务逾期比例较高，大环境的经济形势、企业的转型压力、实体经济的不景气导致了生意和创业群体的逾期规模比例较大，再加上国家层面的大众创业，因为创业本身具备很大的风险。</a:t>
            </a:r>
            <a:r>
              <a:rPr lang="en-US" altLang="zh-CN" sz="1400" dirty="0" smtClean="0"/>
              <a:t/>
            </a:r>
            <a:br>
              <a:rPr lang="en-US" altLang="zh-CN" sz="1400" dirty="0" smtClean="0"/>
            </a:br>
            <a:r>
              <a:rPr lang="en-US" altLang="zh-CN" sz="1400" dirty="0" smtClean="0"/>
              <a:t>        </a:t>
            </a:r>
            <a:endParaRPr lang="zh-CN" altLang="en-US" sz="1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857232"/>
            <a:ext cx="8215370" cy="5000660"/>
          </a:xfrm>
        </p:spPr>
        <p:txBody>
          <a:bodyPr>
            <a:normAutofit/>
          </a:bodyPr>
          <a:lstStyle/>
          <a:p>
            <a:pPr algn="l">
              <a:lnSpc>
                <a:spcPts val="2200"/>
              </a:lnSpc>
            </a:pPr>
            <a:r>
              <a:rPr lang="zh-CN" altLang="en-US" sz="1400" dirty="0" smtClean="0"/>
              <a:t>。</a:t>
            </a:r>
            <a:endParaRPr lang="zh-CN" altLang="en-US" sz="1400" dirty="0"/>
          </a:p>
        </p:txBody>
      </p:sp>
      <p:sp>
        <p:nvSpPr>
          <p:cNvPr id="7" name="标题 1"/>
          <p:cNvSpPr txBox="1">
            <a:spLocks/>
          </p:cNvSpPr>
          <p:nvPr/>
        </p:nvSpPr>
        <p:spPr>
          <a:xfrm>
            <a:off x="428596" y="1214422"/>
            <a:ext cx="8001056" cy="5572164"/>
          </a:xfrm>
          <a:prstGeom prst="rect">
            <a:avLst/>
          </a:prstGeom>
        </p:spPr>
        <p:txBody>
          <a:bodyPr vert="horz" lIns="91440" tIns="45720" rIns="91440" bIns="45720" rtlCol="0" anchor="ctr">
            <a:normAutofit fontScale="97500"/>
          </a:bodyPr>
          <a:lstStyle/>
          <a:p>
            <a:pPr marL="0" marR="0" lvl="0" indent="0" algn="l" defTabSz="914400" rtl="0" eaLnBrk="1" fontAlgn="auto" latinLnBrk="0" hangingPunct="1">
              <a:lnSpc>
                <a:spcPts val="2200"/>
              </a:lnSpc>
              <a:spcBef>
                <a:spcPct val="0"/>
              </a:spcBef>
              <a:spcAft>
                <a:spcPts val="0"/>
              </a:spcAft>
              <a:buClrTx/>
              <a:buSzTx/>
              <a:buFontTx/>
              <a:buNone/>
              <a:tabLst/>
              <a:defRPr/>
            </a:pPr>
            <a:r>
              <a:rPr lang="zh-CN" altLang="en-US" sz="1400" dirty="0" smtClean="0">
                <a:latin typeface="+mj-lt"/>
                <a:ea typeface="+mj-ea"/>
                <a:cs typeface="+mj-cs"/>
              </a:rPr>
              <a:t>很多人</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也是经历了创业失败，尤其是刚刚大学毕业，缺乏社会经验和阅历，创业失败的概率更是大大增加，作为一般年轻人或者家庭而言，创业的原始资金哪里来？有些是自己的积蓄，有的是父母的支持、有些是朋友的支持、还有些就是借贷，然而借贷的问题，对于一般创业者来说，融资贵、融资难的问题一直存在，加上目前借贷的便捷，所以不可避免的会遭遇高息的风险，但是，作为急切需要资金的借款人，没有这里面的意识和能力去判断，直至逾期的时候，很多人才发现，自己的资金成本是如此之高，很多逾期的朋友和阿飞沟通的时候会发现，自己借款</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20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万，实际到手只有</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15</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万的情况不在少数，并且，</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36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期的借款，还了</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18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期，还要还的金额仍远远高于自己的到手金额。还有一类就是投资失败的群体，常见的有</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P2P</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各种资金盘、外汇、期货、各种代理、各种数字货币等，这一类群体，往往对于项目风险把控能力欠佳、个人的贪念导致了逾期，而且金额比较大，但是逾期后自己的收入能力一般，导致债务窟窿，不少人，因此彻底放弃了重头再来的勇气。</a:t>
            </a:r>
            <a:b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b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       除此之外，赌博类负债群体也占据相当大的比重，而且很大一部分群体都是通过网贷信用卡的资金接触赌博，通过不断的撸网贷填补窟窿，网络赌博</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10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赌</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10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输，但是，这是一个庞大的产业链，而且巨额的利润让一家又一家公司前仆后继，赌博的最终结局无外乎两种，一种是重头再来，另一种就是妻离子散、家破人亡。</a:t>
            </a:r>
            <a:endParaRPr kumimoji="0" lang="en-US" altLang="zh-CN" sz="1400" b="0" i="0" u="none" strike="noStrike" kern="1200" cap="none" spc="0" normalizeH="0" baseline="0" noProof="0" dirty="0" smtClean="0">
              <a:ln>
                <a:noFill/>
              </a:ln>
              <a:solidFill>
                <a:schemeClr val="tx1"/>
              </a:solidFill>
              <a:effectLst/>
              <a:uLnTx/>
              <a:uFillTx/>
              <a:latin typeface="+mj-lt"/>
              <a:ea typeface="+mj-ea"/>
              <a:cs typeface="+mj-cs"/>
            </a:endParaRPr>
          </a:p>
          <a:p>
            <a:pPr marL="0" marR="0" lvl="0" indent="0" algn="l" defTabSz="914400" rtl="0" eaLnBrk="1" fontAlgn="auto" latinLnBrk="0" hangingPunct="1">
              <a:lnSpc>
                <a:spcPts val="2000"/>
              </a:lnSpc>
              <a:spcBef>
                <a:spcPct val="0"/>
              </a:spcBef>
              <a:spcAft>
                <a:spcPts val="0"/>
              </a:spcAft>
              <a:buClrTx/>
              <a:buSzTx/>
              <a:buFontTx/>
              <a:buNone/>
              <a:tabLst/>
              <a:defRPr/>
            </a:pPr>
            <a:endParaRPr kumimoji="0" lang="en-US" altLang="zh-CN" sz="1400" b="0" i="0" u="none" strike="noStrike" kern="1200" cap="none" spc="0" normalizeH="0" baseline="0" noProof="0" dirty="0" smtClean="0">
              <a:ln>
                <a:noFill/>
              </a:ln>
              <a:solidFill>
                <a:schemeClr val="tx1"/>
              </a:solidFill>
              <a:effectLst/>
              <a:uLnTx/>
              <a:uFillTx/>
              <a:latin typeface="+mj-lt"/>
              <a:ea typeface="+mj-ea"/>
              <a:cs typeface="+mj-cs"/>
            </a:endParaRPr>
          </a:p>
          <a:p>
            <a:pPr lvl="0">
              <a:lnSpc>
                <a:spcPts val="2200"/>
              </a:lnSpc>
            </a:pPr>
            <a:r>
              <a:rPr kumimoji="0" lang="en-US" altLang="zh-CN" sz="2000" b="1" i="0" u="none" strike="noStrike" kern="1200" cap="none" spc="0" normalizeH="0" baseline="0" noProof="0" dirty="0" smtClean="0">
                <a:ln>
                  <a:noFill/>
                </a:ln>
                <a:solidFill>
                  <a:schemeClr val="tx1"/>
                </a:solidFill>
                <a:effectLst/>
                <a:uLnTx/>
                <a:uFillTx/>
                <a:latin typeface="+mj-lt"/>
                <a:ea typeface="+mj-ea"/>
                <a:cs typeface="+mj-cs"/>
              </a:rPr>
              <a:t>         2</a:t>
            </a:r>
            <a:r>
              <a:rPr kumimoji="0" lang="zh-CN" altLang="en-US" sz="2000" b="1" i="0" u="none" strike="noStrike" kern="1200" cap="none" spc="0" normalizeH="0" baseline="0" noProof="0" dirty="0" smtClean="0">
                <a:ln>
                  <a:noFill/>
                </a:ln>
                <a:solidFill>
                  <a:schemeClr val="tx1"/>
                </a:solidFill>
                <a:effectLst/>
                <a:uLnTx/>
                <a:uFillTx/>
                <a:latin typeface="+mj-lt"/>
                <a:ea typeface="+mj-ea"/>
                <a:cs typeface="+mj-cs"/>
              </a:rPr>
              <a:t>、你目前属于负债群体的哪一类</a:t>
            </a:r>
            <a:r>
              <a:rPr kumimoji="0" lang="en-US" altLang="zh-CN" sz="2000" b="1" i="0" u="none" strike="noStrike" kern="1200" cap="none" spc="0" normalizeH="0" baseline="0" noProof="0" dirty="0" smtClean="0">
                <a:ln>
                  <a:noFill/>
                </a:ln>
                <a:solidFill>
                  <a:schemeClr val="tx1"/>
                </a:solidFill>
                <a:effectLst/>
                <a:uLnTx/>
                <a:uFillTx/>
                <a:latin typeface="+mj-lt"/>
                <a:ea typeface="+mj-ea"/>
                <a:cs typeface="+mj-cs"/>
              </a:rPr>
              <a:t>?</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
            </a:r>
            <a:b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b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从时间来看，分三类，面临逾期，正在逾期</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1-3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个月，逾期</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3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个月以上</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从负债后的心态来看，有破罐子破摔型，有逃避型，有勇于面对型。</a:t>
            </a:r>
            <a:r>
              <a:rPr lang="zh-CN" altLang="en-US" sz="1400" dirty="0" smtClean="0"/>
              <a:t>从负债金额来看，有几万的，也有几个亿的。前者年轻人居多，后者生意失败居多。</a:t>
            </a:r>
            <a:endParaRPr kumimoji="0" lang="zh-CN" altLang="en-US" sz="1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857232"/>
            <a:ext cx="8215370" cy="5000660"/>
          </a:xfrm>
        </p:spPr>
        <p:txBody>
          <a:bodyPr>
            <a:normAutofit/>
          </a:bodyPr>
          <a:lstStyle/>
          <a:p>
            <a:pPr algn="l">
              <a:lnSpc>
                <a:spcPts val="2200"/>
              </a:lnSpc>
            </a:pPr>
            <a:r>
              <a:rPr lang="zh-CN" altLang="en-US" sz="1400" dirty="0" smtClean="0"/>
              <a:t>。</a:t>
            </a:r>
            <a:endParaRPr lang="zh-CN" altLang="en-US" sz="1400" dirty="0"/>
          </a:p>
        </p:txBody>
      </p:sp>
      <p:sp>
        <p:nvSpPr>
          <p:cNvPr id="7" name="标题 1"/>
          <p:cNvSpPr txBox="1">
            <a:spLocks/>
          </p:cNvSpPr>
          <p:nvPr/>
        </p:nvSpPr>
        <p:spPr>
          <a:xfrm>
            <a:off x="500034" y="928670"/>
            <a:ext cx="8358246" cy="5500726"/>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ts val="2200"/>
              </a:lnSpc>
              <a:buClrTx/>
              <a:buSzTx/>
              <a:buFontTx/>
              <a:buNone/>
              <a:tabLst/>
              <a:defRPr/>
            </a:pP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
            </a:r>
            <a:b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br>
            <a:r>
              <a:rPr kumimoji="0" lang="en-US" altLang="zh-CN" b="1" i="0" u="none" strike="noStrike" kern="1200" cap="none" spc="0" normalizeH="0" baseline="0" noProof="0" dirty="0" smtClean="0">
                <a:ln>
                  <a:noFill/>
                </a:ln>
                <a:solidFill>
                  <a:schemeClr val="tx1"/>
                </a:solidFill>
                <a:effectLst/>
                <a:uLnTx/>
                <a:uFillTx/>
                <a:latin typeface="+mj-lt"/>
                <a:ea typeface="+mj-ea"/>
                <a:cs typeface="+mj-cs"/>
              </a:rPr>
              <a:t>3</a:t>
            </a:r>
            <a:r>
              <a:rPr kumimoji="0" lang="zh-CN" altLang="en-US" b="1" i="0" u="none" strike="noStrike" kern="1200" cap="none" spc="0" normalizeH="0" baseline="0" noProof="0" dirty="0" smtClean="0">
                <a:ln>
                  <a:noFill/>
                </a:ln>
                <a:solidFill>
                  <a:schemeClr val="tx1"/>
                </a:solidFill>
                <a:effectLst/>
                <a:uLnTx/>
                <a:uFillTx/>
                <a:latin typeface="+mj-lt"/>
                <a:ea typeface="+mj-ea"/>
                <a:cs typeface="+mj-cs"/>
              </a:rPr>
              <a:t>、信用卡逾期后，债务压力下你需要做的第一件事</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
            </a:r>
            <a:b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b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        很多人会说，负债后，第一步是要挣钱，其实，不是这样的，第一步是要理清你的债务数据，为什么这么说呢？本身欠钱的成本，不同平台不一样，比如说，网贷平台的利息一般高于信用卡，逾期后的利息违约金更加高，还有一些平台本身就是靠利息违约金赚钱，常见的打击的套路贷就是这样的一个情形，按照民间借贷的规定，</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24%</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的利息是合规利息，</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36%</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以上是不受法律保护的，但是，同时要注意一点，很多人说银行的违约金利息很高，受不受法律保护，按照信用卡相关监督管理办法，违约金和利息是合规的，但是，这部分都是可以和银行谈判的，给大家一个建议，如果是</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P2P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平台，你按照最多</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24%</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和平台协商，最少本金协商。一般人会借款很多平台，那么如果你认真梳理下你的债务数据，你会发现可以帮你省很多钱，而且是远远超过你</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1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年的收入水平的，所以，这一步很重要。曾经有个客户，</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160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万的信用卡和网贷，最后，他的处理总金额其实只要</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70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万左右，所以，债务压力下，梳理你的债务数据很重要。</a:t>
            </a:r>
            <a:endParaRPr kumimoji="0" lang="en-US" altLang="zh-CN" sz="1400" b="0" i="0" u="none" strike="noStrike" kern="1200" cap="none" spc="0" normalizeH="0" baseline="0" noProof="0" dirty="0" smtClean="0">
              <a:ln>
                <a:noFill/>
              </a:ln>
              <a:solidFill>
                <a:schemeClr val="tx1"/>
              </a:solidFill>
              <a:effectLst/>
              <a:uLnTx/>
              <a:uFillTx/>
              <a:latin typeface="+mj-lt"/>
              <a:ea typeface="+mj-ea"/>
              <a:cs typeface="+mj-cs"/>
            </a:endParaRPr>
          </a:p>
          <a:p>
            <a:pPr marL="0" marR="0" lvl="0" indent="0" algn="l" defTabSz="914400" rtl="0" eaLnBrk="1" fontAlgn="auto" latinLnBrk="0" hangingPunct="1">
              <a:lnSpc>
                <a:spcPts val="2200"/>
              </a:lnSpc>
              <a:buClrTx/>
              <a:buSzTx/>
              <a:buFontTx/>
              <a:buNone/>
              <a:tabLst/>
              <a:defRPr/>
            </a:pP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
            </a:r>
            <a:b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br>
            <a:r>
              <a:rPr kumimoji="0" lang="en-US" altLang="zh-CN" b="1" i="0" u="none" strike="noStrike" kern="1200" cap="none" spc="0" normalizeH="0" baseline="0" noProof="0" dirty="0" smtClean="0">
                <a:ln>
                  <a:noFill/>
                </a:ln>
                <a:solidFill>
                  <a:schemeClr val="tx1"/>
                </a:solidFill>
                <a:effectLst/>
                <a:uLnTx/>
                <a:uFillTx/>
                <a:latin typeface="+mj-lt"/>
                <a:ea typeface="+mj-ea"/>
                <a:cs typeface="+mj-cs"/>
              </a:rPr>
              <a:t>4</a:t>
            </a:r>
            <a:r>
              <a:rPr kumimoji="0" lang="zh-CN" altLang="en-US" b="1" i="0" u="none" strike="noStrike" kern="1200" cap="none" spc="0" normalizeH="0" baseline="0" noProof="0" dirty="0" smtClean="0">
                <a:ln>
                  <a:noFill/>
                </a:ln>
                <a:solidFill>
                  <a:schemeClr val="tx1"/>
                </a:solidFill>
                <a:effectLst/>
                <a:uLnTx/>
                <a:uFillTx/>
                <a:latin typeface="+mj-lt"/>
                <a:ea typeface="+mj-ea"/>
                <a:cs typeface="+mj-cs"/>
              </a:rPr>
              <a:t>、信用卡网贷逾期后，面对债务你的哪些做法是对的，哪些做法是错的</a:t>
            </a:r>
            <a:r>
              <a:rPr kumimoji="0" lang="en-US" altLang="zh-CN" b="1" i="0" u="none" strike="noStrike" kern="1200" cap="none" spc="0" normalizeH="0" baseline="0" noProof="0" dirty="0" smtClean="0">
                <a:ln>
                  <a:noFill/>
                </a:ln>
                <a:solidFill>
                  <a:schemeClr val="tx1"/>
                </a:solidFill>
                <a:effectLst/>
                <a:uLnTx/>
                <a:uFillTx/>
                <a:latin typeface="+mj-lt"/>
                <a:ea typeface="+mj-ea"/>
                <a:cs typeface="+mj-cs"/>
              </a:rPr>
              <a:t>?</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
            </a:r>
            <a:b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b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从我们服务的</a:t>
            </a:r>
            <a:r>
              <a:rPr kumimoji="0" lang="en-US" altLang="zh-CN" sz="1400" b="0" i="0" u="none" strike="noStrike" kern="1200" cap="none" spc="0" normalizeH="0" baseline="0" noProof="0" dirty="0" smtClean="0">
                <a:ln>
                  <a:noFill/>
                </a:ln>
                <a:solidFill>
                  <a:schemeClr val="tx1"/>
                </a:solidFill>
                <a:effectLst/>
                <a:uLnTx/>
                <a:uFillTx/>
                <a:latin typeface="+mj-lt"/>
                <a:ea typeface="+mj-ea"/>
                <a:cs typeface="+mj-cs"/>
              </a:rPr>
              <a:t>20000 </a:t>
            </a:r>
            <a:r>
              <a:rPr kumimoji="0" lang="zh-CN" altLang="en-US" sz="1400" b="0" i="0" u="none" strike="noStrike" kern="1200" cap="none" spc="0" normalizeH="0" baseline="0" noProof="0" dirty="0" smtClean="0">
                <a:ln>
                  <a:noFill/>
                </a:ln>
                <a:solidFill>
                  <a:schemeClr val="tx1"/>
                </a:solidFill>
                <a:effectLst/>
                <a:uLnTx/>
                <a:uFillTx/>
                <a:latin typeface="+mj-lt"/>
                <a:ea typeface="+mj-ea"/>
                <a:cs typeface="+mj-cs"/>
              </a:rPr>
              <a:t>多逾期的客户来看，第一、负债不可怕，不是杀人放火，没有必要害怕或者心虚或认为自己低人一等，作为金融机构，他们做的是钱的生意，做生意都是会有风险的，就和我们一般人做生意一样，失败了，亏钱了，是一个道理。第二、心态上积极面对，不要破罐子破摔，同时，积极表达自己的还款诉求，说明自己的实际情况，同时，维护自己的合法权益，记录好逾期被催收过程中，平台方的违规违法行为，这些都是最有利于你和银行或者网贷平台机构协商的重要证据，这是一个法制的年代，有证据，比空口说白话更有力量。</a:t>
            </a:r>
            <a:endParaRPr kumimoji="0" lang="zh-CN" altLang="en-US" sz="1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142984"/>
            <a:ext cx="8643966" cy="5643578"/>
          </a:xfrm>
        </p:spPr>
        <p:txBody>
          <a:bodyPr>
            <a:normAutofit/>
          </a:bodyPr>
          <a:lstStyle/>
          <a:p>
            <a:pPr algn="l"/>
            <a:r>
              <a:rPr lang="en-US" altLang="zh-CN" sz="1800" b="1" dirty="0" smtClean="0"/>
              <a:t>5</a:t>
            </a:r>
            <a:r>
              <a:rPr lang="zh-CN" altLang="en-US" sz="1800" b="1" dirty="0" smtClean="0"/>
              <a:t>、信用卡网贷逾期后，对目前收入资产的正确评估</a:t>
            </a:r>
            <a:r>
              <a:rPr lang="en-US" altLang="zh-CN" sz="1400" dirty="0" smtClean="0"/>
              <a:t/>
            </a:r>
            <a:br>
              <a:rPr lang="en-US" altLang="zh-CN" sz="1400" dirty="0" smtClean="0"/>
            </a:br>
            <a:r>
              <a:rPr lang="zh-CN" altLang="en-US" sz="1400" dirty="0" smtClean="0"/>
              <a:t>        债务不是一下子就产生的，很多人经历过的都是以贷养贷，最后负债累累的结局，那么还债也不是一下子就能还完的，在第</a:t>
            </a:r>
            <a:r>
              <a:rPr lang="en-US" altLang="zh-CN" sz="1400" dirty="0" smtClean="0"/>
              <a:t>4 </a:t>
            </a:r>
            <a:r>
              <a:rPr lang="zh-CN" altLang="en-US" sz="1400" dirty="0" smtClean="0"/>
              <a:t>步的基础之上，我们根据债务梳理过后的金额，然后结合自己的债务情况，制定一定的还款计划，做到不还冤枉钱，每一笔还的钱都是可以切实减少你的本金的，而不是违约金利息抵充，将债务变成一个永远还不完的无底洞。</a:t>
            </a:r>
            <a:br>
              <a:rPr lang="zh-CN" altLang="en-US" sz="1400" dirty="0" smtClean="0"/>
            </a:br>
            <a:r>
              <a:rPr lang="zh-CN" altLang="en-US" sz="1400" dirty="0" smtClean="0"/>
              <a:t>       关于个人资产这一步，一般而言，如果确实不是有钱不还，故意隐藏资产，加上坦诚如实的沟通，而且能够保留违规催收的证据，那么你被起诉的概率会大大降低，也不会出现执行资产的情况，但是，如果有资产故意隐藏，甚至转移资产，那么最后可能带来的后果是聪明反被聪明误。</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6</a:t>
            </a:r>
            <a:r>
              <a:rPr lang="zh-CN" altLang="en-US" sz="1800" b="1" dirty="0" smtClean="0"/>
              <a:t>、信用卡网贷逾期后，债务还款的优先级</a:t>
            </a:r>
            <a:r>
              <a:rPr lang="en-US" altLang="zh-CN" sz="1800" b="1" dirty="0" smtClean="0"/>
              <a:t/>
            </a:r>
            <a:br>
              <a:rPr lang="en-US" altLang="zh-CN" sz="1800" b="1" dirty="0" smtClean="0"/>
            </a:br>
            <a:r>
              <a:rPr lang="zh-CN" altLang="en-US" sz="1400" dirty="0" smtClean="0"/>
              <a:t>        一般而言，按照合规性和迫切度来制定还款计划，作为朋友而言，这个取决于朋友之前借钱的约定以及逾期后的朋友经济状况，但是，作为债务人，应该坦诚积极的和出借人沟通协商，对于高利贷的民间借贷，如果违法违规的利息，那么可以让对方走法律程序，如果存在违法催债行为，可以报警。另外作为金融机构的欠款，需要根据合规性及目前的收入水平和平台机构协商，另外，如果有违规证据，甚至可以让对方做出部分赔偿或者减免还款的方案。总结下来，先还合规的钱，比如信用卡及信用贷款，违规的平台，你需要做的就是搜集违规的证据。</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7</a:t>
            </a:r>
            <a:r>
              <a:rPr lang="zh-CN" altLang="en-US" sz="1800" b="1" dirty="0" smtClean="0"/>
              <a:t>、信用卡网贷逾期后，如何根据债务情况制定合理的还款方式</a:t>
            </a:r>
            <a:r>
              <a:rPr lang="zh-CN" altLang="en-US" sz="1400" dirty="0" smtClean="0"/>
              <a:t/>
            </a:r>
            <a:br>
              <a:rPr lang="zh-CN" altLang="en-US" sz="1400" dirty="0" smtClean="0"/>
            </a:br>
            <a:r>
              <a:rPr lang="zh-CN" altLang="en-US" sz="1400" dirty="0" smtClean="0"/>
              <a:t>        很多人不知道欠了那么多钱，怎么去还？其实是大家忽略了，上面提到的一点非常重要，那就是你需要把自己的债务情况详细的梳理出来，是欠个人的还是欠银行的？还是欠网络贷款平台的等等，能够协商的优先还可以协商的平台。不可以协商的，那么就先及时止损，不要再偿还无谓的利息和违约金。就比如说信用卡，在你刚刚逾期一到三个月之内，你还款如果没有办法还足全额或者说最低还款。那么你还的钱是抵充违约金和利息的，你的本金并没有减少。</a:t>
            </a:r>
            <a:endParaRPr lang="zh-CN" altLang="en-US" sz="1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071546"/>
            <a:ext cx="8643966" cy="5643602"/>
          </a:xfrm>
        </p:spPr>
        <p:txBody>
          <a:bodyPr>
            <a:normAutofit/>
          </a:bodyPr>
          <a:lstStyle/>
          <a:p>
            <a:pPr algn="l"/>
            <a:r>
              <a:rPr lang="en-US" altLang="zh-CN" sz="1800" b="1" dirty="0" smtClean="0"/>
              <a:t>8</a:t>
            </a:r>
            <a:r>
              <a:rPr lang="zh-CN" altLang="en-US" sz="1800" b="1" dirty="0" smtClean="0"/>
              <a:t>、信用卡网贷逾期后，如何和债权方沟通？</a:t>
            </a:r>
            <a:r>
              <a:rPr lang="zh-CN" altLang="en-US" sz="1400" dirty="0" smtClean="0"/>
              <a:t/>
            </a:r>
            <a:br>
              <a:rPr lang="zh-CN" altLang="en-US" sz="1400" dirty="0" smtClean="0"/>
            </a:br>
            <a:r>
              <a:rPr lang="zh-CN" altLang="en-US" sz="1400" dirty="0" smtClean="0"/>
              <a:t>         首先你要本着欠债还钱的这个态度很重要，同时对于平台方违法违规的相关证据掌握充足，对平台方相关息费的算法做到心中有数，真实表达，目前自己的收入情况和负债情况，并主动提出自己的还款方案。</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9</a:t>
            </a:r>
            <a:r>
              <a:rPr lang="zh-CN" altLang="en-US" sz="1800" b="1" dirty="0" smtClean="0"/>
              <a:t>、网贷债务的注意点</a:t>
            </a:r>
            <a:r>
              <a:rPr lang="zh-CN" altLang="en-US" sz="1400" dirty="0" smtClean="0"/>
              <a:t/>
            </a:r>
            <a:br>
              <a:rPr lang="zh-CN" altLang="en-US" sz="1400" dirty="0" smtClean="0"/>
            </a:br>
            <a:r>
              <a:rPr lang="zh-CN" altLang="en-US" sz="1400" dirty="0" smtClean="0"/>
              <a:t>         网络贷款首先考虑的是他们的合法合规性的问题，这里面包括他们的息费的算法、合同的条款、催收的方式方法，任何一个违法违规的行为都可以向相关部门举报。</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10</a:t>
            </a:r>
            <a:r>
              <a:rPr lang="zh-CN" altLang="en-US" sz="1800" b="1" dirty="0" smtClean="0"/>
              <a:t>、信用卡债务的注意点</a:t>
            </a:r>
            <a:r>
              <a:rPr lang="zh-CN" altLang="en-US" sz="1400" dirty="0" smtClean="0"/>
              <a:t/>
            </a:r>
            <a:br>
              <a:rPr lang="zh-CN" altLang="en-US" sz="1400" dirty="0" smtClean="0"/>
            </a:br>
            <a:r>
              <a:rPr lang="zh-CN" altLang="en-US" sz="1400" dirty="0" smtClean="0"/>
              <a:t>         信用卡逾期你认为的本金并不是银行真正的本金，你可能有多笔分期，你逾期以后还的款项并不一定是真正冲抵本金，信用卡里边的逾期费利息算法还有手续费算法，所以很多人会有越还越多的感觉。</a:t>
            </a:r>
            <a:br>
              <a:rPr lang="zh-CN" altLang="en-US" sz="1400" dirty="0" smtClean="0"/>
            </a:br>
            <a:r>
              <a:rPr lang="en-US" altLang="zh-CN" sz="1400" dirty="0" smtClean="0"/>
              <a:t/>
            </a:r>
            <a:br>
              <a:rPr lang="en-US" altLang="zh-CN" sz="1400" dirty="0" smtClean="0"/>
            </a:br>
            <a:r>
              <a:rPr lang="en-US" altLang="zh-CN" sz="1800" b="1" dirty="0" smtClean="0"/>
              <a:t>11</a:t>
            </a:r>
            <a:r>
              <a:rPr lang="zh-CN" altLang="en-US" sz="1800" b="1" dirty="0" smtClean="0"/>
              <a:t>、我属于信用卡诈骗吗？如何驳回？</a:t>
            </a:r>
            <a:r>
              <a:rPr lang="zh-CN" altLang="en-US" sz="1400" dirty="0" smtClean="0"/>
              <a:t/>
            </a:r>
            <a:br>
              <a:rPr lang="zh-CN" altLang="en-US" sz="1400" dirty="0" smtClean="0"/>
            </a:br>
            <a:r>
              <a:rPr lang="zh-CN" altLang="en-US" sz="1400" dirty="0" smtClean="0"/>
              <a:t>        信用卡诈骗要满足几个前提，分别是虚假信息、伪造信用卡、使用作废的信用卡诈骗、冒充他人使用信用卡诈骗、恶意透支等。目前所有的指控持卡人恶意透支的材料，作为持卡人，完全可以通过积极联系银行主动交代自己的负债情况和收入情况，主动表达自己的还款意愿去避免此类指控。</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12</a:t>
            </a:r>
            <a:r>
              <a:rPr lang="zh-CN" altLang="en-US" sz="1800" b="1" dirty="0" smtClean="0"/>
              <a:t>、我属于信用卡恶意透支吗？</a:t>
            </a:r>
            <a:r>
              <a:rPr lang="zh-CN" altLang="en-US" sz="1400" dirty="0" smtClean="0"/>
              <a:t/>
            </a:r>
            <a:br>
              <a:rPr lang="zh-CN" altLang="en-US" sz="1400" dirty="0" smtClean="0"/>
            </a:br>
            <a:r>
              <a:rPr lang="zh-CN" altLang="en-US" sz="1400" dirty="0" smtClean="0"/>
              <a:t>         恶意透支指非法占有为目的，超过规定限额或者规定期限透支，并且经过发卡银行两次催收后超过三个月仍不归还的行为。其中以非法占有为目的的情形，包括明知没有还款能力而大量透支无法归还的肆意挥霍透支的资金，透支后逃匿改变联系方式，逃避银行催收的出逃转移资金，隐匿财产用逃避还款的，使用透支的资金进行违法犯罪活动的以及其他非法占有资金拒不归还的行为。驳回的方式：主动联系银行坦承自己的负债情况和收入情况，拿出自己的还款方案和积极面对的态度。</a:t>
            </a:r>
            <a:endParaRPr lang="zh-CN" altLang="en-US" sz="1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000108"/>
            <a:ext cx="8215370" cy="6000768"/>
          </a:xfrm>
        </p:spPr>
        <p:txBody>
          <a:bodyPr>
            <a:normAutofit/>
          </a:bodyPr>
          <a:lstStyle/>
          <a:p>
            <a:pPr algn="l">
              <a:lnSpc>
                <a:spcPts val="1700"/>
              </a:lnSpc>
            </a:pPr>
            <a:r>
              <a:rPr lang="en-US" altLang="zh-CN" sz="2000" b="1" dirty="0" smtClean="0"/>
              <a:t>13</a:t>
            </a:r>
            <a:r>
              <a:rPr lang="zh-CN" altLang="en-US" sz="2000" b="1" dirty="0" smtClean="0"/>
              <a:t>、信用卡透支该如何处理？</a:t>
            </a:r>
            <a:r>
              <a:rPr lang="zh-CN" altLang="en-US" sz="2000" dirty="0" smtClean="0"/>
              <a:t/>
            </a:r>
            <a:br>
              <a:rPr lang="zh-CN" altLang="en-US" sz="2000" dirty="0" smtClean="0"/>
            </a:br>
            <a:r>
              <a:rPr lang="zh-CN" altLang="en-US" sz="1800" dirty="0" smtClean="0"/>
              <a:t>       </a:t>
            </a:r>
            <a:r>
              <a:rPr lang="zh-CN" altLang="en-US" sz="1300" dirty="0" smtClean="0"/>
              <a:t>主动联系银行坦承自己的负债情况和收入情况，拿出自己的还款方案和积极面对的态度。 </a:t>
            </a:r>
            <a:r>
              <a:rPr lang="en-US" altLang="zh-CN" sz="1300" b="1" dirty="0" smtClean="0"/>
              <a:t/>
            </a:r>
            <a:br>
              <a:rPr lang="en-US" altLang="zh-CN" sz="1300" b="1" dirty="0" smtClean="0"/>
            </a:br>
            <a:r>
              <a:rPr lang="en-US" altLang="zh-CN" sz="1800" b="1" dirty="0" smtClean="0"/>
              <a:t/>
            </a:r>
            <a:br>
              <a:rPr lang="en-US" altLang="zh-CN" sz="1800" b="1" dirty="0" smtClean="0"/>
            </a:br>
            <a:r>
              <a:rPr lang="en-US" altLang="zh-CN" sz="1800" b="1" dirty="0" smtClean="0"/>
              <a:t>14</a:t>
            </a:r>
            <a:r>
              <a:rPr lang="zh-CN" altLang="en-US" sz="1800" b="1" dirty="0" smtClean="0"/>
              <a:t>、没有逾期，接近逾期你要注意什么？</a:t>
            </a:r>
            <a:r>
              <a:rPr lang="zh-CN" altLang="en-US" sz="1400" dirty="0" smtClean="0"/>
              <a:t/>
            </a:r>
            <a:br>
              <a:rPr lang="zh-CN" altLang="en-US" sz="1400" dirty="0" smtClean="0"/>
            </a:br>
            <a:r>
              <a:rPr lang="zh-CN" altLang="en-US" sz="1400" dirty="0" smtClean="0"/>
              <a:t>        </a:t>
            </a:r>
            <a:r>
              <a:rPr lang="zh-CN" altLang="en-US" sz="1300" dirty="0" smtClean="0"/>
              <a:t>没有逾期，接近逾期你需要提前主动和金融机构联系，说明自己的实际负债情况以及收入情况，并且询问对方接下来的催收流程是否合法合规，同时保留好相关的录音和证据。如果后期发生催收违规的方式和行为的话，那么及时向金融机构方投诉。如果对方不予受理，那么向相关部门反馈。</a:t>
            </a:r>
            <a:r>
              <a:rPr lang="en-US" altLang="zh-CN" sz="1300" dirty="0" smtClean="0"/>
              <a:t/>
            </a:r>
            <a:br>
              <a:rPr lang="en-US" altLang="zh-CN" sz="1300" dirty="0" smtClean="0"/>
            </a:br>
            <a:r>
              <a:rPr lang="zh-CN" altLang="en-US" sz="1400" dirty="0" smtClean="0"/>
              <a:t/>
            </a:r>
            <a:br>
              <a:rPr lang="zh-CN" altLang="en-US" sz="1400" dirty="0" smtClean="0"/>
            </a:br>
            <a:r>
              <a:rPr lang="en-US" altLang="zh-CN" sz="1800" b="1" dirty="0" smtClean="0"/>
              <a:t>15</a:t>
            </a:r>
            <a:r>
              <a:rPr lang="zh-CN" altLang="en-US" sz="1800" b="1" dirty="0" smtClean="0"/>
              <a:t>、没有逾期的沟通方式</a:t>
            </a:r>
            <a:r>
              <a:rPr lang="zh-CN" altLang="en-US" sz="1400" dirty="0" smtClean="0"/>
              <a:t/>
            </a:r>
            <a:br>
              <a:rPr lang="zh-CN" altLang="en-US" sz="1400" dirty="0" smtClean="0"/>
            </a:br>
            <a:r>
              <a:rPr lang="zh-CN" altLang="en-US" sz="1300" dirty="0" smtClean="0"/>
              <a:t>         首先是积极的态度，告知平台方自己的负债情况，明确自己的收入情况以及家庭开支情况。积极争取同平台方达成新的还款方案，虽然对方不会同意，但是你只要提出这样的诉求即可，以免后期平台方控告持卡人，或者说借款人恶意透支和非法占有恶意逃避等。</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16</a:t>
            </a:r>
            <a:r>
              <a:rPr lang="zh-CN" altLang="en-US" sz="1800" b="1" dirty="0" smtClean="0"/>
              <a:t>、信用卡网贷逾期后，面对催收，你应该怎么办？</a:t>
            </a:r>
            <a:r>
              <a:rPr lang="zh-CN" altLang="en-US" sz="1400" dirty="0" smtClean="0"/>
              <a:t/>
            </a:r>
            <a:br>
              <a:rPr lang="zh-CN" altLang="en-US" sz="1400" dirty="0" smtClean="0"/>
            </a:br>
            <a:r>
              <a:rPr lang="zh-CN" altLang="en-US" sz="1400" dirty="0" smtClean="0"/>
              <a:t>        </a:t>
            </a:r>
            <a:r>
              <a:rPr lang="zh-CN" altLang="en-US" sz="1300" dirty="0" smtClean="0"/>
              <a:t>不需要吵架，告知实际情况，告知自己的法律意识，告知对方自己的接听电话时间，询问对方是否有债务分期的权限。</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17</a:t>
            </a:r>
            <a:r>
              <a:rPr lang="zh-CN" altLang="en-US" sz="1800" b="1" dirty="0" smtClean="0"/>
              <a:t>、信用卡网贷逾期后，为什么催收越来越猛？</a:t>
            </a:r>
            <a:r>
              <a:rPr lang="zh-CN" altLang="en-US" sz="1400" dirty="0" smtClean="0"/>
              <a:t/>
            </a:r>
            <a:br>
              <a:rPr lang="zh-CN" altLang="en-US" sz="1400" dirty="0" smtClean="0"/>
            </a:br>
            <a:r>
              <a:rPr lang="zh-CN" altLang="en-US" sz="1400" dirty="0" smtClean="0"/>
              <a:t>        </a:t>
            </a:r>
            <a:r>
              <a:rPr lang="zh-CN" altLang="en-US" sz="1300" dirty="0" smtClean="0"/>
              <a:t>每个金融机构都有它们的贷后管理流程，从一个月内到三个月到六个月到一年有不同的处理方式，前期是电话催收，友情提醒后面是语言态度越来越强硬，在后面是律师函、报案函、起诉书等。不排除长期的逾期会导致你的债权转让给第三方，第三方的催收公司质量层参差不齐，会有一些在灰色地带的催收行为。</a:t>
            </a:r>
            <a:r>
              <a:rPr lang="en-US" altLang="zh-CN" sz="1300" dirty="0" smtClean="0"/>
              <a:t/>
            </a:r>
            <a:br>
              <a:rPr lang="en-US" altLang="zh-CN" sz="1300" dirty="0" smtClean="0"/>
            </a:br>
            <a:r>
              <a:rPr lang="en-US" altLang="zh-CN" sz="1400" dirty="0" smtClean="0"/>
              <a:t/>
            </a:r>
            <a:br>
              <a:rPr lang="en-US" altLang="zh-CN" sz="1400" dirty="0" smtClean="0"/>
            </a:br>
            <a:r>
              <a:rPr lang="en-US" altLang="zh-CN" sz="2000" b="1" dirty="0" smtClean="0"/>
              <a:t>18</a:t>
            </a:r>
            <a:r>
              <a:rPr lang="zh-CN" altLang="en-US" sz="2000" b="1" dirty="0" smtClean="0"/>
              <a:t>、信用卡网贷逾期后，收到律师函怎么回事？</a:t>
            </a:r>
            <a:r>
              <a:rPr lang="zh-CN" altLang="en-US" sz="1400" dirty="0" smtClean="0"/>
              <a:t/>
            </a:r>
            <a:br>
              <a:rPr lang="zh-CN" altLang="en-US" sz="1400" dirty="0" smtClean="0"/>
            </a:br>
            <a:r>
              <a:rPr lang="zh-CN" altLang="en-US" sz="1400" dirty="0" smtClean="0"/>
              <a:t>         </a:t>
            </a:r>
            <a:r>
              <a:rPr lang="zh-CN" altLang="en-US" sz="1300" dirty="0" smtClean="0"/>
              <a:t>律师函其实和法院的传票并不相同，每个人都可以委托一家律师事务所向某个人发送律师函的权利。当然存在一些虚假律师函的问题。不过发律师函是合法合规的，当然也不用害怕，正式的起诉以传票为主</a:t>
            </a:r>
            <a:r>
              <a:rPr lang="zh-CN" altLang="en-US" sz="1400" dirty="0" smtClean="0"/>
              <a:t>。</a:t>
            </a:r>
            <a:endParaRPr lang="zh-CN" altLang="en-US" sz="1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7147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285720" y="928670"/>
            <a:ext cx="8429684" cy="5643602"/>
          </a:xfrm>
        </p:spPr>
        <p:txBody>
          <a:bodyPr>
            <a:normAutofit/>
          </a:bodyPr>
          <a:lstStyle/>
          <a:p>
            <a:pPr algn="l"/>
            <a:r>
              <a:rPr lang="en-US" altLang="zh-CN" sz="1800" b="1" dirty="0" smtClean="0"/>
              <a:t>19</a:t>
            </a:r>
            <a:r>
              <a:rPr lang="zh-CN" altLang="en-US" sz="1800" b="1" dirty="0" smtClean="0"/>
              <a:t>、信用卡网贷逾期后，收到报案函怎么回事？</a:t>
            </a:r>
            <a:r>
              <a:rPr lang="zh-CN" altLang="en-US" sz="1400" dirty="0" smtClean="0"/>
              <a:t/>
            </a:r>
            <a:br>
              <a:rPr lang="zh-CN" altLang="en-US" sz="1400" dirty="0" smtClean="0"/>
            </a:br>
            <a:r>
              <a:rPr lang="zh-CN" altLang="en-US" sz="1400" dirty="0" smtClean="0"/>
              <a:t>         报案函其实是银行的行使债权的权利的方式，我们每一个公民都可以有选择报案权利，但是报警和警察立案是两码事。一般而言，如果你并不是信用卡诈骗，那么就无需害怕，不过一定要积极正确的面对。</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20</a:t>
            </a:r>
            <a:r>
              <a:rPr lang="zh-CN" altLang="en-US" sz="1800" b="1" dirty="0" smtClean="0"/>
              <a:t>、信用卡网贷逾期后，我真的被起诉了吗？</a:t>
            </a:r>
            <a:r>
              <a:rPr lang="zh-CN" altLang="en-US" sz="1400" dirty="0" smtClean="0"/>
              <a:t/>
            </a:r>
            <a:br>
              <a:rPr lang="zh-CN" altLang="en-US" sz="1400" dirty="0" smtClean="0"/>
            </a:br>
            <a:r>
              <a:rPr lang="zh-CN" altLang="en-US" sz="1400" dirty="0" smtClean="0"/>
              <a:t>         真正的起诉是以法院的传票为准，同时你也可以通过法院的官方电话或者到裁判文书网查询自己是否被起诉以及是否被判决。</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21</a:t>
            </a:r>
            <a:r>
              <a:rPr lang="zh-CN" altLang="en-US" sz="1800" b="1" dirty="0" smtClean="0"/>
              <a:t>、信用卡网贷逾期后，我只有一套房，会被执行吗？</a:t>
            </a:r>
            <a:r>
              <a:rPr lang="zh-CN" altLang="en-US" sz="1400" dirty="0" smtClean="0"/>
              <a:t/>
            </a:r>
            <a:br>
              <a:rPr lang="zh-CN" altLang="en-US" sz="1400" dirty="0" smtClean="0"/>
            </a:br>
            <a:r>
              <a:rPr lang="zh-CN" altLang="en-US" sz="1400" dirty="0" smtClean="0"/>
              <a:t>          一般而言，如果你只有一套住房，而且你面对债务的态度是积极的，坦诚的，并且努力在赚钱，那么一般而言不会执行你的房产。但是对于有部分恶意逃避债务的人，那么房产被法院起诉执行的概率会大大提升。要区分是个人之间的债务还是个人与金融机构之间的债务。</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22</a:t>
            </a:r>
            <a:r>
              <a:rPr lang="zh-CN" altLang="en-US" sz="1800" b="1" dirty="0" smtClean="0"/>
              <a:t>、信用卡网贷逾期后，公安机关让我过去，我要去吗？</a:t>
            </a:r>
            <a:r>
              <a:rPr lang="zh-CN" altLang="en-US" sz="1400" dirty="0" smtClean="0"/>
              <a:t/>
            </a:r>
            <a:br>
              <a:rPr lang="zh-CN" altLang="en-US" sz="1400" dirty="0" smtClean="0"/>
            </a:br>
            <a:r>
              <a:rPr lang="zh-CN" altLang="en-US" sz="1400" dirty="0" smtClean="0"/>
              <a:t>         银行选择报案，如果公安机关或者说相关部门让你过去，其实过去是没有任何问题的，但是你需要具备一定的法律知识，就是目前自己的欠款行为构不构成信用卡诈骗或者说其他的刑事犯罪问题。如果一个人行的正完全没有必要害怕，比如说做生意失败不用害怕自己被抓被坐牢，因为这是一个很正常的现象。</a:t>
            </a:r>
            <a:r>
              <a:rPr lang="en-US" altLang="zh-CN" sz="1400" dirty="0" smtClean="0"/>
              <a:t/>
            </a:r>
            <a:br>
              <a:rPr lang="en-US" altLang="zh-CN" sz="1400" dirty="0" smtClean="0"/>
            </a:br>
            <a:r>
              <a:rPr lang="en-US" altLang="zh-CN" sz="1400" dirty="0" smtClean="0"/>
              <a:t/>
            </a:r>
            <a:br>
              <a:rPr lang="en-US" altLang="zh-CN" sz="1400" dirty="0" smtClean="0"/>
            </a:br>
            <a:r>
              <a:rPr lang="en-US" altLang="zh-CN" sz="1800" b="1" dirty="0" smtClean="0"/>
              <a:t>23</a:t>
            </a:r>
            <a:r>
              <a:rPr lang="zh-CN" altLang="en-US" sz="1800" b="1" dirty="0" smtClean="0"/>
              <a:t>、信用卡网贷逾期后，催收哪些行为是违规的？</a:t>
            </a:r>
            <a:r>
              <a:rPr lang="zh-CN" altLang="en-US" sz="1400" dirty="0" smtClean="0"/>
              <a:t/>
            </a:r>
            <a:br>
              <a:rPr lang="zh-CN" altLang="en-US" sz="1400" dirty="0" smtClean="0"/>
            </a:br>
            <a:r>
              <a:rPr lang="zh-CN" altLang="en-US" sz="1400" dirty="0" smtClean="0"/>
              <a:t>        威胁辱骂恐吓，虚假的法院传票，虚假的公安逮捕令，诱导借款人以贷养贷，骚扰非借款人以外的其他第三方，均属于催收违规行为。</a:t>
            </a:r>
            <a:endParaRPr lang="zh-CN" altLang="en-US" sz="1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428596" y="928670"/>
            <a:ext cx="8572560" cy="5857916"/>
          </a:xfrm>
        </p:spPr>
        <p:txBody>
          <a:bodyPr>
            <a:normAutofit/>
          </a:bodyPr>
          <a:lstStyle/>
          <a:p>
            <a:pPr algn="l"/>
            <a:r>
              <a:rPr lang="en-US" altLang="zh-CN" sz="1800" b="1" dirty="0" smtClean="0"/>
              <a:t>24</a:t>
            </a:r>
            <a:r>
              <a:rPr lang="zh-CN" altLang="en-US" sz="1800" b="1" dirty="0" smtClean="0"/>
              <a:t>、信用卡网贷逾期后，人死了，钱还要还吗</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人死了，但是债务债权关系一直存在，借款人的财产继承人有还款的义务。</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25</a:t>
            </a:r>
            <a:r>
              <a:rPr lang="zh-CN" altLang="en-US" sz="1800" b="1" dirty="0" smtClean="0"/>
              <a:t>、信用卡网贷逾期后，催收多久才会停止</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一般而言，如果你的债权存在，那么催收不会停止，除非他们不要这笔钱了。但是如果转让第三方，新债权方进入，那么催收还会继续催收。</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26</a:t>
            </a:r>
            <a:r>
              <a:rPr lang="zh-CN" altLang="en-US" sz="1800" b="1" dirty="0" smtClean="0"/>
              <a:t>、催收为什么会知道我的那么多信息</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目前这个时代是大数据时代，一般想要获取你的任何信息，只要债权方想要获得，那么问题都不大。你的手机里面的每个</a:t>
            </a:r>
            <a:r>
              <a:rPr lang="en-US" altLang="zh-CN" sz="1400" dirty="0" smtClean="0"/>
              <a:t>APP </a:t>
            </a:r>
            <a:r>
              <a:rPr lang="zh-CN" altLang="en-US" sz="1400" dirty="0" smtClean="0"/>
              <a:t>都可以获取你的信息，债权方会有第三方的大数据合作公司，所以逃避是不可能的。</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27</a:t>
            </a:r>
            <a:r>
              <a:rPr lang="zh-CN" altLang="en-US" sz="1800" b="1" dirty="0" smtClean="0"/>
              <a:t>、信用卡逾期后的利息计算方式？</a:t>
            </a:r>
            <a:r>
              <a:rPr lang="zh-CN" altLang="en-US" sz="1400" dirty="0" smtClean="0"/>
              <a:t/>
            </a:r>
            <a:br>
              <a:rPr lang="zh-CN" altLang="en-US" sz="1400" dirty="0" smtClean="0"/>
            </a:br>
            <a:r>
              <a:rPr lang="zh-CN" altLang="en-US" sz="1400" dirty="0" smtClean="0"/>
              <a:t>        信用卡逾期后利息和违约金的计算方式比较复杂，</a:t>
            </a:r>
            <a:r>
              <a:rPr lang="en-US" altLang="zh-CN" sz="1400" dirty="0" smtClean="0"/>
              <a:t>10 </a:t>
            </a:r>
            <a:r>
              <a:rPr lang="zh-CN" altLang="en-US" sz="1400" dirty="0" smtClean="0"/>
              <a:t>万块钱一个月的违约金和利息可能大概需要</a:t>
            </a:r>
            <a:r>
              <a:rPr lang="en-US" altLang="zh-CN" sz="1400" dirty="0" smtClean="0"/>
              <a:t>7000 </a:t>
            </a:r>
            <a:r>
              <a:rPr lang="zh-CN" altLang="en-US" sz="1400" dirty="0" smtClean="0"/>
              <a:t>块钱以上，所以信用卡逾期以后及时止损是非常重要的。</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28</a:t>
            </a:r>
            <a:r>
              <a:rPr lang="zh-CN" altLang="en-US" sz="1800" b="1" dirty="0" smtClean="0"/>
              <a:t>、信用卡逾期利息计算方式合法吗</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目前信用卡逾期以后的利息违约金计算方法是合法合规的，但是在持卡人被起诉的过程当中，法院并不支持这么高的利息违约金的算法，所以很多人被判决以后真正的还款金额比账单的金额要少不少，法律规定的年化</a:t>
            </a:r>
            <a:r>
              <a:rPr lang="en-US" altLang="zh-CN" sz="1400" dirty="0" smtClean="0"/>
              <a:t>24%</a:t>
            </a:r>
            <a:r>
              <a:rPr lang="zh-CN" altLang="en-US" sz="1400" dirty="0" smtClean="0"/>
              <a:t>的合法利息是一般计算在内的。</a:t>
            </a:r>
            <a:r>
              <a:rPr lang="en-US" altLang="zh-CN" sz="1400" dirty="0" smtClean="0"/>
              <a:t/>
            </a:r>
            <a:br>
              <a:rPr lang="en-US" altLang="zh-CN" sz="1400" dirty="0" smtClean="0"/>
            </a:br>
            <a:r>
              <a:rPr lang="en-US" altLang="zh-CN" sz="1400" dirty="0" smtClean="0"/>
              <a:t/>
            </a:r>
            <a:br>
              <a:rPr lang="en-US" altLang="zh-CN" sz="1400" dirty="0" smtClean="0"/>
            </a:br>
            <a:r>
              <a:rPr lang="en-US" altLang="zh-CN" sz="1800" b="1" dirty="0" smtClean="0"/>
              <a:t>29</a:t>
            </a:r>
            <a:r>
              <a:rPr lang="zh-CN" altLang="en-US" sz="1800" b="1" dirty="0" smtClean="0"/>
              <a:t>、</a:t>
            </a:r>
            <a:r>
              <a:rPr lang="en-US" altLang="zh-CN" sz="1800" b="1" dirty="0" smtClean="0"/>
              <a:t>714 </a:t>
            </a:r>
            <a:r>
              <a:rPr lang="zh-CN" altLang="en-US" sz="1800" b="1" dirty="0" smtClean="0"/>
              <a:t>（高利贷）要不要还</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在我们看来，欠债还钱天经地义，但是只还合法合规的钱，就算有一些高利贷的钱本身也是需要还的，不过一定要是合法合规的还，同时对方如果有违法违规的行为，应当追究对方的责任。</a:t>
            </a:r>
            <a:endParaRPr lang="zh-CN" altLang="en-US" sz="1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428596" y="1071570"/>
            <a:ext cx="8358246" cy="5786454"/>
          </a:xfrm>
        </p:spPr>
        <p:txBody>
          <a:bodyPr>
            <a:normAutofit/>
          </a:bodyPr>
          <a:lstStyle/>
          <a:p>
            <a:pPr algn="l"/>
            <a:r>
              <a:rPr lang="en-US" altLang="zh-CN" sz="1800" b="1" dirty="0" smtClean="0"/>
              <a:t>30</a:t>
            </a:r>
            <a:r>
              <a:rPr lang="zh-CN" altLang="en-US" sz="1800" b="1" dirty="0" smtClean="0"/>
              <a:t>、信用卡网贷逾期后，上征信是不是就是黑户了？</a:t>
            </a:r>
            <a:r>
              <a:rPr lang="zh-CN" altLang="en-US" sz="1400" dirty="0" smtClean="0"/>
              <a:t/>
            </a:r>
            <a:br>
              <a:rPr lang="zh-CN" altLang="en-US" sz="1400" dirty="0" smtClean="0"/>
            </a:br>
            <a:r>
              <a:rPr lang="zh-CN" altLang="en-US" sz="1400" dirty="0" smtClean="0"/>
              <a:t>         很多人对征信的理解有错误。征信的核心是大数据供给第三方参考，是否要跟你发生合作关系，我们拿借贷而言就是借贷关系，作为信用卡或者网络贷款逾期的客户，你们要关心的首要问题是，是否和银行及金融机构发生了借贷往来，至于会不会限制高消费限制出行影响子女上学，这个取决于法院是否判决你已经成为失信执行人，如果你没有被正式起诉和正式判决，一般不会有这些影响。</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31</a:t>
            </a:r>
            <a:r>
              <a:rPr lang="zh-CN" altLang="en-US" sz="1800" b="1" dirty="0" smtClean="0"/>
              <a:t>、信用卡属于国有资产吗？</a:t>
            </a:r>
            <a:r>
              <a:rPr lang="zh-CN" altLang="en-US" sz="1400" dirty="0" smtClean="0"/>
              <a:t/>
            </a:r>
            <a:br>
              <a:rPr lang="zh-CN" altLang="en-US" sz="1400" dirty="0" smtClean="0"/>
            </a:br>
            <a:r>
              <a:rPr lang="zh-CN" altLang="en-US" sz="1400" dirty="0" smtClean="0"/>
              <a:t>        作为信用卡发卡银行而言，本身就是盈利机构，并不是有些催收所说的侵占国有资产，银行的信用卡业务是一个高风险的业务，就不可避免的会出现逾期的情况，那么唯一的不同就是国家对于信用卡的监管是比较严格的。</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32</a:t>
            </a:r>
            <a:r>
              <a:rPr lang="zh-CN" altLang="en-US" sz="1800" b="1" dirty="0" smtClean="0"/>
              <a:t>、信用卡逾期到底要不要坐牢？</a:t>
            </a:r>
            <a:r>
              <a:rPr lang="zh-CN" altLang="en-US" sz="1400" dirty="0" smtClean="0"/>
              <a:t/>
            </a:r>
            <a:br>
              <a:rPr lang="zh-CN" altLang="en-US" sz="1400" dirty="0" smtClean="0"/>
            </a:br>
            <a:r>
              <a:rPr lang="zh-CN" altLang="en-US" sz="1400" dirty="0" smtClean="0"/>
              <a:t>        如果你不构成信用卡诈骗，一般不会坐牢，从我们目前服务的信用卡逾期群体来看，坐牢的概率几乎为零。</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33</a:t>
            </a:r>
            <a:r>
              <a:rPr lang="zh-CN" altLang="en-US" sz="1800" b="1" dirty="0" smtClean="0"/>
              <a:t>、负债累累，我还要去借钱吗？</a:t>
            </a:r>
            <a:r>
              <a:rPr lang="zh-CN" altLang="en-US" sz="1400" dirty="0" smtClean="0"/>
              <a:t/>
            </a:r>
            <a:br>
              <a:rPr lang="zh-CN" altLang="en-US" sz="1400" dirty="0" smtClean="0"/>
            </a:br>
            <a:r>
              <a:rPr lang="zh-CN" altLang="en-US" sz="1400" dirty="0" smtClean="0"/>
              <a:t>        大家要知道你逾期以后借款的成本会非常高，如果是银行或者说其他的借贷平台，甚至有些高利贷平台，那么如果你的收入无法覆盖你目前的借钱的成本，那么尽量不要在借钱还钱。 </a:t>
            </a:r>
            <a:r>
              <a:rPr lang="en-US" altLang="zh-CN" sz="1400" dirty="0" smtClean="0"/>
              <a:t/>
            </a:r>
            <a:br>
              <a:rPr lang="en-US" altLang="zh-CN" sz="1400" dirty="0" smtClean="0"/>
            </a:br>
            <a:r>
              <a:rPr lang="en-US" altLang="zh-CN" sz="1400" dirty="0" smtClean="0"/>
              <a:t/>
            </a:r>
            <a:br>
              <a:rPr lang="en-US" altLang="zh-CN" sz="1400" dirty="0" smtClean="0"/>
            </a:br>
            <a:r>
              <a:rPr lang="en-US" altLang="zh-CN" sz="1800" b="1" dirty="0" smtClean="0"/>
              <a:t> 34</a:t>
            </a:r>
            <a:r>
              <a:rPr lang="zh-CN" altLang="en-US" sz="1800" b="1" dirty="0" smtClean="0"/>
              <a:t>、信用卡网贷逾期后，被违规催收，我可以起诉平台吗</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一般而言，起诉平台需要你具备一定的资金和需要具备专业知识，比如说债务逾期领域的为借款人维权的相关机构，但是目前这一块儿是市场空缺的，再加上借款人本身就不具备这么多资金去找律师，所以这个也是很难起诉的一个重要原因。</a:t>
            </a:r>
            <a:endParaRPr lang="zh-CN" altLang="en-US" sz="1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000132"/>
            <a:ext cx="8358246" cy="5643578"/>
          </a:xfrm>
        </p:spPr>
        <p:txBody>
          <a:bodyPr>
            <a:normAutofit/>
          </a:bodyPr>
          <a:lstStyle/>
          <a:p>
            <a:pPr algn="l"/>
            <a:r>
              <a:rPr lang="en-US" altLang="zh-CN" sz="1800" b="1" dirty="0" smtClean="0"/>
              <a:t>35</a:t>
            </a:r>
            <a:r>
              <a:rPr lang="zh-CN" altLang="en-US" sz="1800" b="1" dirty="0" smtClean="0"/>
              <a:t>、信用卡逾期</a:t>
            </a:r>
            <a:r>
              <a:rPr lang="en-US" altLang="zh-CN" sz="1800" b="1" dirty="0" smtClean="0"/>
              <a:t>1 </a:t>
            </a:r>
            <a:r>
              <a:rPr lang="zh-CN" altLang="en-US" sz="1800" b="1" dirty="0" smtClean="0"/>
              <a:t>年以上了，还要还吗？</a:t>
            </a:r>
            <a:r>
              <a:rPr lang="zh-CN" altLang="en-US" sz="1400" dirty="0" smtClean="0"/>
              <a:t/>
            </a:r>
            <a:br>
              <a:rPr lang="zh-CN" altLang="en-US" sz="1400" dirty="0" smtClean="0"/>
            </a:br>
            <a:r>
              <a:rPr lang="zh-CN" altLang="en-US" sz="1400" dirty="0" smtClean="0"/>
              <a:t>        不管你信用卡逾期多久，那么这个钱是一定要还的。如果一直不还，那么最终受损害最大的还是你自己。</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36</a:t>
            </a:r>
            <a:r>
              <a:rPr lang="zh-CN" altLang="en-US" sz="1800" b="1" dirty="0" smtClean="0"/>
              <a:t>、信用卡还不上了，银行为什么不给我再分期还本金？</a:t>
            </a:r>
            <a:r>
              <a:rPr lang="zh-CN" altLang="en-US" sz="1400" dirty="0" smtClean="0"/>
              <a:t/>
            </a:r>
            <a:br>
              <a:rPr lang="zh-CN" altLang="en-US" sz="1400" dirty="0" smtClean="0"/>
            </a:br>
            <a:r>
              <a:rPr lang="zh-CN" altLang="en-US" sz="1400" dirty="0" smtClean="0"/>
              <a:t>        作为信用卡发卡银行而言，面对逾期的客户，那么他们会通过收取利息违约金的方式来弥补自己的本金损失。同时会通过各种方式来催收回款，因为监管部门对于银行的资产质量是有严格的考核要求的。如果分期还款，那么对于银行资金回收的效率会大大降低。</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37</a:t>
            </a:r>
            <a:r>
              <a:rPr lang="zh-CN" altLang="en-US" sz="1800" b="1" dirty="0" smtClean="0"/>
              <a:t>、信用卡逾期，律师说要判刑，真的还是假的？</a:t>
            </a:r>
            <a:r>
              <a:rPr lang="zh-CN" altLang="en-US" sz="1400" dirty="0" smtClean="0"/>
              <a:t/>
            </a:r>
            <a:br>
              <a:rPr lang="zh-CN" altLang="en-US" sz="1400" dirty="0" smtClean="0"/>
            </a:br>
            <a:r>
              <a:rPr lang="zh-CN" altLang="en-US" sz="1400" dirty="0" smtClean="0"/>
              <a:t>        如果不构成信用卡诈骗，那么就不会判刑，其实很多说判刑都是一个给你施压的方式而已。</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38</a:t>
            </a:r>
            <a:r>
              <a:rPr lang="zh-CN" altLang="en-US" sz="1800" b="1" dirty="0" smtClean="0"/>
              <a:t>、信用卡逾期，让我去派出所，会不会被直接抓起来？</a:t>
            </a:r>
            <a:r>
              <a:rPr lang="zh-CN" altLang="en-US" sz="1400" dirty="0" smtClean="0"/>
              <a:t/>
            </a:r>
            <a:br>
              <a:rPr lang="zh-CN" altLang="en-US" sz="1400" dirty="0" smtClean="0"/>
            </a:br>
            <a:r>
              <a:rPr lang="zh-CN" altLang="en-US" sz="1400" dirty="0" smtClean="0"/>
              <a:t>        一般而言不会直接抓起来最多是拘留，那么拘留的时间也是有要求的，一般不会超过三天，最迟不超过七天，如果不构成信用卡诈骗，那么必须放人。</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39</a:t>
            </a:r>
            <a:r>
              <a:rPr lang="zh-CN" altLang="en-US" sz="1800" b="1" dirty="0" smtClean="0"/>
              <a:t>、信用卡逾期，银行委托第三方催收合法吗？</a:t>
            </a:r>
            <a:r>
              <a:rPr lang="zh-CN" altLang="en-US" sz="1400" dirty="0" smtClean="0"/>
              <a:t/>
            </a:r>
            <a:br>
              <a:rPr lang="zh-CN" altLang="en-US" sz="1400" dirty="0" smtClean="0"/>
            </a:br>
            <a:r>
              <a:rPr lang="zh-CN" altLang="en-US" sz="1400" dirty="0" smtClean="0"/>
              <a:t>        银行把债权委托给第三方催收是合法合规的，但是在推出的过程当中一定要按照法律规范来行使催收流程，否则不合规的行为你是可以和银行的客服举报投诉。</a:t>
            </a:r>
            <a:r>
              <a:rPr lang="en-US" altLang="zh-CN" sz="1400" dirty="0" smtClean="0"/>
              <a:t/>
            </a:r>
            <a:br>
              <a:rPr lang="en-US" altLang="zh-CN" sz="1400" dirty="0" smtClean="0"/>
            </a:br>
            <a:r>
              <a:rPr lang="zh-CN" altLang="en-US" sz="1400" dirty="0" smtClean="0"/>
              <a:t> </a:t>
            </a:r>
            <a:r>
              <a:rPr lang="en-US" altLang="zh-CN" sz="1400" dirty="0" smtClean="0"/>
              <a:t/>
            </a:r>
            <a:br>
              <a:rPr lang="en-US" altLang="zh-CN" sz="1400" dirty="0" smtClean="0"/>
            </a:br>
            <a:r>
              <a:rPr lang="en-US" altLang="zh-CN" sz="1800" b="1" dirty="0" smtClean="0"/>
              <a:t> 40</a:t>
            </a:r>
            <a:r>
              <a:rPr lang="zh-CN" altLang="en-US" sz="1800" b="1" dirty="0" smtClean="0"/>
              <a:t>、信用卡逾期了，被起诉了，我该怎么办</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如果信用卡逾期被起诉了，那么要积极面对，一定要去应诉，否则你被直接判决或者说失信，执行的概率会大大提升。</a:t>
            </a:r>
            <a:endParaRPr lang="zh-CN" altLang="en-US" sz="1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071546"/>
            <a:ext cx="8215370" cy="5857916"/>
          </a:xfrm>
        </p:spPr>
        <p:txBody>
          <a:bodyPr>
            <a:normAutofit/>
          </a:bodyPr>
          <a:lstStyle/>
          <a:p>
            <a:pPr algn="l"/>
            <a:r>
              <a:rPr lang="en-US" altLang="zh-CN" sz="1800" b="1" dirty="0" smtClean="0"/>
              <a:t>41</a:t>
            </a:r>
            <a:r>
              <a:rPr lang="zh-CN" altLang="en-US" sz="1800" b="1" dirty="0" smtClean="0"/>
              <a:t>、信用卡逾期后，电话一直没有敢接，还换号码了，银行会怎么做？</a:t>
            </a:r>
            <a:r>
              <a:rPr lang="zh-CN" altLang="en-US" sz="1400" dirty="0" smtClean="0"/>
              <a:t/>
            </a:r>
            <a:br>
              <a:rPr lang="zh-CN" altLang="en-US" sz="1400" dirty="0" smtClean="0"/>
            </a:br>
            <a:r>
              <a:rPr lang="zh-CN" altLang="en-US" sz="1400" dirty="0" smtClean="0"/>
              <a:t>        如果你信用卡逾期以后一直处于失联状态，那么你被起诉的概率会大大增加，如果严重一点讲甚至银行完全可以以信用卡诈骗的方式来刑事起诉，所以不建议失联换号码。</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42</a:t>
            </a:r>
            <a:r>
              <a:rPr lang="zh-CN" altLang="en-US" sz="1800" b="1" dirty="0" smtClean="0"/>
              <a:t>、网贷逾期会上门吗？</a:t>
            </a:r>
            <a:r>
              <a:rPr lang="zh-CN" altLang="en-US" sz="1400" dirty="0" smtClean="0"/>
              <a:t/>
            </a:r>
            <a:br>
              <a:rPr lang="zh-CN" altLang="en-US" sz="1400" dirty="0" smtClean="0"/>
            </a:br>
            <a:r>
              <a:rPr lang="zh-CN" altLang="en-US" sz="1400" dirty="0" smtClean="0"/>
              <a:t>        合法合规的网贷平台，那么他们去上门了解情况是没有任何问题的，另外一般不合法不合规的网络贷款平台不会上门。</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43</a:t>
            </a:r>
            <a:r>
              <a:rPr lang="zh-CN" altLang="en-US" sz="1800" b="1" dirty="0" smtClean="0"/>
              <a:t>、信用卡逾期以后，如何避免上门？</a:t>
            </a:r>
            <a:r>
              <a:rPr lang="zh-CN" altLang="en-US" sz="1400" dirty="0" smtClean="0"/>
              <a:t/>
            </a:r>
            <a:br>
              <a:rPr lang="zh-CN" altLang="en-US" sz="1400" dirty="0" smtClean="0"/>
            </a:br>
            <a:r>
              <a:rPr lang="zh-CN" altLang="en-US" sz="1400" dirty="0" smtClean="0"/>
              <a:t>        最好的避免上门的方式是主动联系对方，让对方上门了解情况，因为你越害怕什么行为，催收有可能会通过这样的行为来给你施加压力。</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44</a:t>
            </a:r>
            <a:r>
              <a:rPr lang="zh-CN" altLang="en-US" sz="1800" b="1" dirty="0" smtClean="0"/>
              <a:t>、信用卡逾期后，银行上门，我该怎么做？</a:t>
            </a:r>
            <a:r>
              <a:rPr lang="zh-CN" altLang="en-US" sz="1400" dirty="0" smtClean="0"/>
              <a:t/>
            </a:r>
            <a:br>
              <a:rPr lang="zh-CN" altLang="en-US" sz="1400" dirty="0" smtClean="0"/>
            </a:br>
            <a:r>
              <a:rPr lang="zh-CN" altLang="en-US" sz="1400" dirty="0" smtClean="0"/>
              <a:t>        银行上门以后，作为持卡人不需要逃避，不需要害怕，你只需要光明正大的让对方出具相应的委托函，和催款方的身份证明，积极把自己的情况和对方反馈，同时争取相应的债务分期的方案。</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45</a:t>
            </a:r>
            <a:r>
              <a:rPr lang="zh-CN" altLang="en-US" sz="1800" b="1" dirty="0" smtClean="0"/>
              <a:t>、信用卡欠多少钱，才会立案？</a:t>
            </a:r>
            <a:r>
              <a:rPr lang="zh-CN" altLang="en-US" sz="1400" dirty="0" smtClean="0"/>
              <a:t/>
            </a:r>
            <a:br>
              <a:rPr lang="zh-CN" altLang="en-US" sz="1400" dirty="0" smtClean="0"/>
            </a:br>
            <a:r>
              <a:rPr lang="zh-CN" altLang="en-US" sz="1400" dirty="0" smtClean="0"/>
              <a:t>        信用卡欠多少钱才会立案？这个没有一个确切的数据，包括信用卡民事起诉，银行也会综合考量各方面的原因，比如说你的负债原因以及逾期时间和金额等，逾期以后和银行以及催收方的沟通情况等。</a:t>
            </a:r>
            <a:r>
              <a:rPr lang="en-US" altLang="zh-CN" sz="1400" dirty="0" smtClean="0"/>
              <a:t/>
            </a:r>
            <a:br>
              <a:rPr lang="en-US" altLang="zh-CN" sz="1400" dirty="0" smtClean="0"/>
            </a:br>
            <a:r>
              <a:rPr lang="zh-CN" altLang="en-US" sz="1400" dirty="0" smtClean="0"/>
              <a:t> </a:t>
            </a:r>
            <a:r>
              <a:rPr lang="en-US" altLang="zh-CN" sz="1400" dirty="0" smtClean="0"/>
              <a:t/>
            </a:r>
            <a:br>
              <a:rPr lang="en-US" altLang="zh-CN" sz="1400" dirty="0" smtClean="0"/>
            </a:br>
            <a:r>
              <a:rPr lang="en-US" altLang="zh-CN" sz="1800" b="1" dirty="0" smtClean="0"/>
              <a:t>46</a:t>
            </a:r>
            <a:r>
              <a:rPr lang="zh-CN" altLang="en-US" sz="1800" b="1" dirty="0" smtClean="0"/>
              <a:t>、信用卡逾期后，银行说我套现违法，我该怎么办</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从法律角度，持卡人通过信用卡套现，一方面是因为这种现象普遍存在，另外一方面这种行为的存在多方都是有责任的。从目前的社会情况来看，套现的比例并不低。</a:t>
            </a:r>
            <a:endParaRPr lang="zh-CN" altLang="en-US" sz="1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071546"/>
            <a:ext cx="8358246" cy="5500726"/>
          </a:xfrm>
        </p:spPr>
        <p:txBody>
          <a:bodyPr>
            <a:normAutofit fontScale="90000"/>
          </a:bodyPr>
          <a:lstStyle/>
          <a:p>
            <a:pPr algn="l"/>
            <a:r>
              <a:rPr lang="en-US" altLang="zh-CN" sz="1800" b="1" dirty="0" smtClean="0"/>
              <a:t> 47</a:t>
            </a:r>
            <a:r>
              <a:rPr lang="zh-CN" altLang="en-US" sz="1800" b="1" dirty="0" smtClean="0"/>
              <a:t>、信用卡逾期后，银行要到单位怎么办？</a:t>
            </a:r>
            <a:r>
              <a:rPr lang="zh-CN" altLang="en-US" sz="1400" dirty="0" smtClean="0"/>
              <a:t/>
            </a:r>
            <a:br>
              <a:rPr lang="zh-CN" altLang="en-US" sz="1400" dirty="0" smtClean="0"/>
            </a:br>
            <a:r>
              <a:rPr lang="zh-CN" altLang="en-US" sz="1400" dirty="0" smtClean="0"/>
              <a:t>        信用卡逾期以后，如果对方需要去公司了解情况，其实这个并不用害怕或者说逃避。如果害怕或者说逃避，那么对自己的不利影响会影响到最大。主动和对方约地方和时间。同时很坦诚的面对自己的债务，说明自己的收入情况和负债情况即可。</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48</a:t>
            </a:r>
            <a:r>
              <a:rPr lang="zh-CN" altLang="en-US" sz="1800" b="1" dirty="0" smtClean="0"/>
              <a:t>、信用卡逾期后，是不是每月还</a:t>
            </a:r>
            <a:r>
              <a:rPr lang="en-US" altLang="zh-CN" sz="1800" b="1" dirty="0" smtClean="0"/>
              <a:t>100 </a:t>
            </a:r>
            <a:r>
              <a:rPr lang="zh-CN" altLang="en-US" sz="1800" b="1" dirty="0" smtClean="0"/>
              <a:t>就没事了</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很多人会错误地认为，逾期以后每个月还一点就没事了，但从我们目前服务的客户来看，这并不构成银行不会起诉你的一个筹码。同时三个月之内，其实你每个月还的钱都是先抵充利息和违约金的。</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49</a:t>
            </a:r>
            <a:r>
              <a:rPr lang="zh-CN" altLang="en-US" sz="1800" b="1" dirty="0" smtClean="0"/>
              <a:t>、信用卡逾期后，我每天赚钱都还一点，还会坐牢吗？</a:t>
            </a:r>
            <a:r>
              <a:rPr lang="zh-CN" altLang="en-US" sz="1400" dirty="0" smtClean="0"/>
              <a:t/>
            </a:r>
            <a:br>
              <a:rPr lang="zh-CN" altLang="en-US" sz="1400" dirty="0" smtClean="0"/>
            </a:br>
            <a:r>
              <a:rPr lang="zh-CN" altLang="en-US" sz="1400" dirty="0" smtClean="0"/>
              <a:t>        只要你积极的面对自己的债务，不构成信用卡诈骗，不管你是还多少一般而言都不会坐牢，不过并不排除会民事起诉。</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50</a:t>
            </a:r>
            <a:r>
              <a:rPr lang="zh-CN" altLang="en-US" sz="1800" b="1" dirty="0" smtClean="0"/>
              <a:t>、信用卡一家逾期了，其他会被封卡降额吗？</a:t>
            </a:r>
            <a:r>
              <a:rPr lang="zh-CN" altLang="en-US" sz="1400" dirty="0" smtClean="0"/>
              <a:t/>
            </a:r>
            <a:br>
              <a:rPr lang="zh-CN" altLang="en-US" sz="1400" dirty="0" smtClean="0"/>
            </a:br>
            <a:r>
              <a:rPr lang="zh-CN" altLang="en-US" sz="1400" dirty="0" smtClean="0"/>
              <a:t>        一般而言，如果你的负债率偏高，那么根据央行的大数据很有可能导致你的部分信用卡降额，如果你已经有信用卡逾期了，那么其他银行的信用卡一般而言会陆续降额或者说封卡。</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51</a:t>
            </a:r>
            <a:r>
              <a:rPr lang="zh-CN" altLang="en-US" sz="1800" b="1" dirty="0" smtClean="0"/>
              <a:t>、信用卡一家起诉我了，其他的是不是也会起诉我？</a:t>
            </a:r>
            <a:r>
              <a:rPr lang="zh-CN" altLang="en-US" sz="1400" dirty="0" smtClean="0"/>
              <a:t/>
            </a:r>
            <a:br>
              <a:rPr lang="zh-CN" altLang="en-US" sz="1400" dirty="0" smtClean="0"/>
            </a:br>
            <a:r>
              <a:rPr lang="zh-CN" altLang="en-US" sz="1400" dirty="0" smtClean="0"/>
              <a:t>        很多人会遇到说信用卡逾期了会有多家银行联合起诉的这种说法，其实银行会不会起诉，取决于每家银行，取决每家银行对你的综合考量以及做的决定。</a:t>
            </a:r>
            <a:r>
              <a:rPr lang="en-US" altLang="zh-CN" sz="1400" dirty="0" smtClean="0"/>
              <a:t/>
            </a:r>
            <a:br>
              <a:rPr lang="en-US" altLang="zh-CN" sz="1400" dirty="0" smtClean="0"/>
            </a:br>
            <a:r>
              <a:rPr lang="en-US" altLang="zh-CN" sz="1400" dirty="0" smtClean="0"/>
              <a:t/>
            </a:r>
            <a:br>
              <a:rPr lang="en-US" altLang="zh-CN" sz="1400" dirty="0" smtClean="0"/>
            </a:br>
            <a:r>
              <a:rPr lang="en-US" altLang="zh-CN" sz="2000" b="1" dirty="0" smtClean="0"/>
              <a:t>52</a:t>
            </a:r>
            <a:r>
              <a:rPr lang="zh-CN" altLang="en-US" sz="2000" b="1" dirty="0" smtClean="0"/>
              <a:t>、信用卡网贷逾期后，如何知道我是不是被失信执行了？</a:t>
            </a:r>
            <a:r>
              <a:rPr lang="zh-CN" altLang="en-US" sz="1200" dirty="0" smtClean="0"/>
              <a:t/>
            </a:r>
            <a:br>
              <a:rPr lang="zh-CN" altLang="en-US" sz="1200" dirty="0" smtClean="0"/>
            </a:br>
            <a:r>
              <a:rPr lang="zh-CN" altLang="en-US" sz="1200" dirty="0" smtClean="0"/>
              <a:t>        </a:t>
            </a:r>
            <a:r>
              <a:rPr lang="zh-CN" altLang="en-US" sz="1400" dirty="0" smtClean="0"/>
              <a:t>查看自己有没有被失信执行，首先你有没有正式收到传票或者说法院官方的短信，同时你也可以通过法院的官网或者查询网站查询。</a:t>
            </a:r>
            <a:endParaRPr lang="zh-CN" altLang="en-US" sz="1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000108"/>
            <a:ext cx="8358246" cy="5500726"/>
          </a:xfrm>
        </p:spPr>
        <p:txBody>
          <a:bodyPr>
            <a:normAutofit fontScale="90000"/>
          </a:bodyPr>
          <a:lstStyle/>
          <a:p>
            <a:pPr algn="l"/>
            <a:r>
              <a:rPr lang="en-US" altLang="zh-CN" sz="1800" b="1" dirty="0" smtClean="0"/>
              <a:t>53</a:t>
            </a:r>
            <a:r>
              <a:rPr lang="zh-CN" altLang="en-US" sz="1800" b="1" dirty="0" smtClean="0"/>
              <a:t>、信用卡网贷逾期后，征信花了，怎么办</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一般央行的征信大数据会保留五年，所以你逾期以后五年才有可能消除你的记录，不过当你把所有的债务还完，你的征信报告里面显示已经全部结清，部分金融机构在查看你的征信的时候可能只看最近一年和两年，如果最近的一两年没有相关的违约记录，那么不会影响你和金融机关的借贷关系。</a:t>
            </a:r>
            <a:r>
              <a:rPr lang="en-US" altLang="zh-CN" sz="1400" dirty="0" smtClean="0"/>
              <a:t/>
            </a:r>
            <a:br>
              <a:rPr lang="en-US" altLang="zh-CN" sz="1400" dirty="0" smtClean="0"/>
            </a:br>
            <a:r>
              <a:rPr lang="en-US" altLang="zh-CN" sz="1400" dirty="0" smtClean="0"/>
              <a:t/>
            </a:r>
            <a:br>
              <a:rPr lang="en-US" altLang="zh-CN" sz="1400" dirty="0" smtClean="0"/>
            </a:br>
            <a:r>
              <a:rPr lang="en-US" altLang="zh-CN" sz="1800" b="1" dirty="0" smtClean="0"/>
              <a:t> 54</a:t>
            </a:r>
            <a:r>
              <a:rPr lang="zh-CN" altLang="en-US" sz="1800" b="1" dirty="0" smtClean="0"/>
              <a:t>、信用卡网贷逾期后，没有收到传票，我怎么收到判决书了？</a:t>
            </a:r>
            <a:r>
              <a:rPr lang="zh-CN" altLang="en-US" sz="1400" dirty="0" smtClean="0"/>
              <a:t/>
            </a:r>
            <a:br>
              <a:rPr lang="zh-CN" altLang="en-US" sz="1400" dirty="0" smtClean="0"/>
            </a:br>
            <a:r>
              <a:rPr lang="zh-CN" altLang="en-US" sz="1400" dirty="0" smtClean="0"/>
              <a:t>        如果没有收到传票，但是收到了判决书，很有可能是你缺席判决，你可以拨打判决书里面的法院官方号码。</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55</a:t>
            </a:r>
            <a:r>
              <a:rPr lang="zh-CN" altLang="en-US" sz="1800" b="1" dirty="0" smtClean="0"/>
              <a:t>、信用卡逾期起诉后，是不是可以只还本金？</a:t>
            </a:r>
            <a:r>
              <a:rPr lang="zh-CN" altLang="en-US" sz="1400" dirty="0" smtClean="0"/>
              <a:t/>
            </a:r>
            <a:br>
              <a:rPr lang="zh-CN" altLang="en-US" sz="1400" dirty="0" smtClean="0"/>
            </a:br>
            <a:r>
              <a:rPr lang="zh-CN" altLang="en-US" sz="1400" dirty="0" smtClean="0"/>
              <a:t>        信用卡逾期被起诉以后很多人会错误地认为只需要还本金， 其实信用卡发卡银行对于每个人被起诉以后都是有一个底线的，每个人的情况也不一样，有些人需要还本金，有些人可能需要还合规的利息，有些人还需要承担相应的违约金和利息。</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56</a:t>
            </a:r>
            <a:r>
              <a:rPr lang="zh-CN" altLang="en-US" sz="1800" b="1" dirty="0" smtClean="0"/>
              <a:t>、信用卡网贷逾期后，催收上门了，我要不要开门？</a:t>
            </a:r>
            <a:r>
              <a:rPr lang="zh-CN" altLang="en-US" sz="1400" dirty="0" smtClean="0"/>
              <a:t/>
            </a:r>
            <a:br>
              <a:rPr lang="zh-CN" altLang="en-US" sz="1400" dirty="0" smtClean="0"/>
            </a:br>
            <a:r>
              <a:rPr lang="zh-CN" altLang="en-US" sz="1400" dirty="0" smtClean="0"/>
              <a:t>        催收上门了，其实你应该积极面对，同时让对方出具相应的委托文件，没有必要说通过不开门来逃避问题。</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57</a:t>
            </a:r>
            <a:r>
              <a:rPr lang="zh-CN" altLang="en-US" sz="1800" b="1" dirty="0" smtClean="0"/>
              <a:t>、信用卡逾期后，银行什么样的情况会起诉</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银行决定是否起诉信用卡逾期的客户取决于多方面的原因，包括你的负债原因，负债金额，逾期以后的催收情况沟通情况，你本人面对债务的一个态度情况。</a:t>
            </a:r>
            <a:r>
              <a:rPr lang="en-US" altLang="zh-CN" sz="1400" dirty="0" smtClean="0"/>
              <a:t/>
            </a:r>
            <a:br>
              <a:rPr lang="en-US" altLang="zh-CN" sz="1400" dirty="0" smtClean="0"/>
            </a:br>
            <a:r>
              <a:rPr lang="en-US" altLang="zh-CN" sz="1400" dirty="0" smtClean="0"/>
              <a:t/>
            </a:r>
            <a:br>
              <a:rPr lang="en-US" altLang="zh-CN" sz="1400" dirty="0" smtClean="0"/>
            </a:br>
            <a:r>
              <a:rPr lang="en-US" altLang="zh-CN" sz="2000" b="1" dirty="0" smtClean="0"/>
              <a:t>58</a:t>
            </a:r>
            <a:r>
              <a:rPr lang="zh-CN" altLang="en-US" sz="2000" b="1" dirty="0" smtClean="0"/>
              <a:t>、信用卡网贷逾期后，催收说的可以帮你减免，真的吗？</a:t>
            </a:r>
            <a:r>
              <a:rPr lang="zh-CN" altLang="en-US" sz="1200" dirty="0" smtClean="0"/>
              <a:t/>
            </a:r>
            <a:br>
              <a:rPr lang="zh-CN" altLang="en-US" sz="1200" dirty="0" smtClean="0"/>
            </a:br>
            <a:r>
              <a:rPr lang="zh-CN" altLang="en-US" sz="1600" dirty="0" smtClean="0"/>
              <a:t>        不管催收给你什么样的承诺，你一定要通过官方的电话去核实信息的真假，避免自己遭遇被套路的损失。</a:t>
            </a:r>
            <a:endParaRPr lang="zh-CN" altLang="en-US" sz="16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71472" y="1214422"/>
            <a:ext cx="8215370" cy="5643602"/>
          </a:xfrm>
        </p:spPr>
        <p:txBody>
          <a:bodyPr>
            <a:normAutofit fontScale="90000"/>
          </a:bodyPr>
          <a:lstStyle/>
          <a:p>
            <a:pPr algn="l"/>
            <a:r>
              <a:rPr lang="en-US" altLang="zh-CN" sz="1800" b="1" dirty="0" smtClean="0"/>
              <a:t>59</a:t>
            </a:r>
            <a:r>
              <a:rPr lang="zh-CN" altLang="en-US" sz="1800" b="1" dirty="0" smtClean="0"/>
              <a:t>、信用卡网贷逾期后，催收说的可以帮你恢复额度，真的吗？</a:t>
            </a:r>
            <a:r>
              <a:rPr lang="zh-CN" altLang="en-US" sz="1400" dirty="0" smtClean="0"/>
              <a:t/>
            </a:r>
            <a:br>
              <a:rPr lang="zh-CN" altLang="en-US" sz="1400" dirty="0" smtClean="0"/>
            </a:br>
            <a:r>
              <a:rPr lang="zh-CN" altLang="en-US" sz="1400" dirty="0" smtClean="0"/>
              <a:t>        一般而言，如果你的负债率很高，甚至有很多已经逾期了，催收和你说可以恢复额度，一般而言是不靠谱的。</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60</a:t>
            </a:r>
            <a:r>
              <a:rPr lang="zh-CN" altLang="en-US" sz="1800" b="1" dirty="0" smtClean="0"/>
              <a:t>、信用卡网贷逾期后，催收为什么老是说，你拒绝偿还？</a:t>
            </a:r>
            <a:r>
              <a:rPr lang="zh-CN" altLang="en-US" sz="1400" dirty="0" smtClean="0"/>
              <a:t/>
            </a:r>
            <a:br>
              <a:rPr lang="zh-CN" altLang="en-US" sz="1400" dirty="0" smtClean="0"/>
            </a:br>
            <a:r>
              <a:rPr lang="zh-CN" altLang="en-US" sz="1400" dirty="0" smtClean="0"/>
              <a:t>        在催收的过程当中，很多催收会故意给借款人一些错误的定性，比如说故意不还钱，恶意不还，所以在面对这种的情况下，你一定要保留好相应的自己主动还款的通话记录或者说短信等。</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61</a:t>
            </a:r>
            <a:r>
              <a:rPr lang="zh-CN" altLang="en-US" sz="1800" b="1" dirty="0" smtClean="0"/>
              <a:t>、信用卡网贷逾期后，催收说下午</a:t>
            </a:r>
            <a:r>
              <a:rPr lang="en-US" altLang="zh-CN" sz="1800" b="1" dirty="0" smtClean="0"/>
              <a:t>5 </a:t>
            </a:r>
            <a:r>
              <a:rPr lang="zh-CN" altLang="en-US" sz="1800" b="1" dirty="0" smtClean="0"/>
              <a:t>点之前还，否则下一步走</a:t>
            </a:r>
            <a:br>
              <a:rPr lang="zh-CN" altLang="en-US" sz="1800" b="1" dirty="0" smtClean="0"/>
            </a:br>
            <a:r>
              <a:rPr lang="zh-CN" altLang="en-US" sz="1800" b="1" dirty="0" smtClean="0"/>
              <a:t>程序，啥意思？</a:t>
            </a:r>
            <a:r>
              <a:rPr lang="zh-CN" altLang="en-US" sz="1400" dirty="0" smtClean="0"/>
              <a:t/>
            </a:r>
            <a:br>
              <a:rPr lang="zh-CN" altLang="en-US" sz="1400" dirty="0" smtClean="0"/>
            </a:br>
            <a:r>
              <a:rPr lang="zh-CN" altLang="en-US" sz="1400" dirty="0" smtClean="0"/>
              <a:t>        其实催收口中的下一步程序只是催收程序的下一步，并不是公安机关的下一步，很多人会错误的认为下一步程序就是坐牢或者说刑事起诉。</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62</a:t>
            </a:r>
            <a:r>
              <a:rPr lang="zh-CN" altLang="en-US" sz="1800" b="1" dirty="0" smtClean="0"/>
              <a:t>、信用卡网贷逾期后，法院强制执行会怎么操作？</a:t>
            </a:r>
            <a:r>
              <a:rPr lang="zh-CN" altLang="en-US" sz="1400" dirty="0" smtClean="0"/>
              <a:t/>
            </a:r>
            <a:br>
              <a:rPr lang="zh-CN" altLang="en-US" sz="1400" dirty="0" smtClean="0"/>
            </a:br>
            <a:r>
              <a:rPr lang="zh-CN" altLang="en-US" sz="1400" dirty="0" smtClean="0"/>
              <a:t>        法院强制执行以后可能会查封你的资产，冻结你的银行卡支付宝或者说微信，并且你有责任每月上报自己的收入情况。</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63</a:t>
            </a:r>
            <a:r>
              <a:rPr lang="zh-CN" altLang="en-US" sz="1800" b="1" dirty="0" smtClean="0"/>
              <a:t>、信用卡网贷逾期后，黑名单还可以买火车票吗？</a:t>
            </a:r>
            <a:r>
              <a:rPr lang="zh-CN" altLang="en-US" sz="1400" dirty="0" smtClean="0"/>
              <a:t/>
            </a:r>
            <a:br>
              <a:rPr lang="zh-CN" altLang="en-US" sz="1400" dirty="0" smtClean="0"/>
            </a:br>
            <a:r>
              <a:rPr lang="zh-CN" altLang="en-US" sz="1400" dirty="0" smtClean="0"/>
              <a:t>        如果你已经被失信执行那么是不能够购买飞机票或者说高铁票的，但是一般的火车票还是没有问题的，你可以通过</a:t>
            </a:r>
            <a:r>
              <a:rPr lang="en-US" altLang="zh-CN" sz="1400" dirty="0" smtClean="0"/>
              <a:t>12306 </a:t>
            </a:r>
            <a:r>
              <a:rPr lang="zh-CN" altLang="en-US" sz="1400" dirty="0" smtClean="0"/>
              <a:t>的</a:t>
            </a:r>
            <a:r>
              <a:rPr lang="en-US" altLang="zh-CN" sz="1400" dirty="0" smtClean="0"/>
              <a:t>APP </a:t>
            </a:r>
            <a:r>
              <a:rPr lang="zh-CN" altLang="en-US" sz="1400" dirty="0" smtClean="0"/>
              <a:t>查询自己是否能够购票。</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64</a:t>
            </a:r>
            <a:r>
              <a:rPr lang="zh-CN" altLang="en-US" sz="1800" b="1" dirty="0" smtClean="0"/>
              <a:t>、信用卡网贷逾期后，我欠的钱，父母要为我还吗？</a:t>
            </a:r>
            <a:r>
              <a:rPr lang="zh-CN" altLang="en-US" sz="1400" dirty="0" smtClean="0"/>
              <a:t/>
            </a:r>
            <a:br>
              <a:rPr lang="zh-CN" altLang="en-US" sz="1400" dirty="0" smtClean="0"/>
            </a:br>
            <a:r>
              <a:rPr lang="zh-CN" altLang="en-US" sz="1400" dirty="0" smtClean="0"/>
              <a:t>        从法律上讲你欠的钱你的父母没有义务去给你偿还，除非他们是你的担保人。但是一般信用卡或者说其他的信用贷款并不是通过担保借的款。</a:t>
            </a:r>
            <a:r>
              <a:rPr lang="en-US" altLang="zh-CN" sz="1400" dirty="0" smtClean="0"/>
              <a:t/>
            </a:r>
            <a:br>
              <a:rPr lang="en-US" altLang="zh-CN" sz="1400" dirty="0" smtClean="0"/>
            </a:br>
            <a:endParaRPr lang="zh-CN" altLang="en-US" sz="1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428736"/>
            <a:ext cx="8215370" cy="5286412"/>
          </a:xfrm>
        </p:spPr>
        <p:txBody>
          <a:bodyPr>
            <a:normAutofit fontScale="90000"/>
          </a:bodyPr>
          <a:lstStyle/>
          <a:p>
            <a:pPr algn="l"/>
            <a:r>
              <a:rPr lang="en-US" altLang="zh-CN" sz="1800" b="1" dirty="0" smtClean="0"/>
              <a:t> 65</a:t>
            </a:r>
            <a:r>
              <a:rPr lang="zh-CN" altLang="en-US" sz="1800" b="1" dirty="0" smtClean="0"/>
              <a:t>、信用卡网贷逾期后，银行为啥不给我停止利息还本金</a:t>
            </a:r>
            <a:r>
              <a:rPr lang="zh-CN" altLang="en-US" sz="1400" dirty="0" smtClean="0"/>
              <a:t/>
            </a:r>
            <a:br>
              <a:rPr lang="zh-CN" altLang="en-US" sz="1400" dirty="0" smtClean="0"/>
            </a:br>
            <a:r>
              <a:rPr lang="zh-CN" altLang="en-US" sz="1400" dirty="0" smtClean="0"/>
              <a:t>        银行对于逾期的客户肯定需要通过惩罚性的一些利息和违约金去避免逾期这种事情的发生，所以他们不可能说你逾期以后帮你停止利息只还本金，除非你能够一次性</a:t>
            </a:r>
            <a:r>
              <a:rPr lang="zh-CN" altLang="en-US" sz="1400" dirty="0" smtClean="0"/>
              <a:t>结清。</a:t>
            </a:r>
            <a:r>
              <a:rPr lang="en-US" altLang="zh-CN" sz="1400" dirty="0" smtClean="0"/>
              <a:t/>
            </a:r>
            <a:br>
              <a:rPr lang="en-US" altLang="zh-CN" sz="1400" dirty="0" smtClean="0"/>
            </a:br>
            <a:r>
              <a:rPr lang="en-US" altLang="zh-CN" sz="1400" dirty="0" smtClean="0"/>
              <a:t/>
            </a:r>
            <a:br>
              <a:rPr lang="en-US" altLang="zh-CN" sz="1400" dirty="0" smtClean="0"/>
            </a:br>
            <a:r>
              <a:rPr lang="en-US" altLang="zh-CN" sz="1800" b="1" dirty="0" smtClean="0"/>
              <a:t>66</a:t>
            </a:r>
            <a:r>
              <a:rPr lang="zh-CN" altLang="en-US" sz="1800" b="1" dirty="0" smtClean="0"/>
              <a:t>、信用卡逾期会影响孩子上学吗？</a:t>
            </a:r>
            <a:r>
              <a:rPr lang="zh-CN" altLang="en-US" sz="1400" dirty="0" smtClean="0"/>
              <a:t/>
            </a:r>
            <a:br>
              <a:rPr lang="zh-CN" altLang="en-US" sz="1400" dirty="0" smtClean="0"/>
            </a:br>
            <a:r>
              <a:rPr lang="zh-CN" altLang="en-US" sz="1400" dirty="0" smtClean="0"/>
              <a:t>         信用卡</a:t>
            </a:r>
            <a:r>
              <a:rPr lang="zh-CN" altLang="en-US" sz="1400" dirty="0" smtClean="0"/>
              <a:t>逾期，如果没被法院起诉正式判决，对个人不会有太大影响，</a:t>
            </a:r>
            <a:r>
              <a:rPr lang="zh-CN" altLang="en-US" sz="1400" dirty="0" smtClean="0"/>
              <a:t>最大的</a:t>
            </a:r>
            <a:r>
              <a:rPr lang="zh-CN" altLang="en-US" sz="1400" dirty="0" smtClean="0"/>
              <a:t>影响是和金融机构之间的借贷影响，很难再贷款，至于对孩子的影响</a:t>
            </a:r>
            <a:r>
              <a:rPr lang="zh-CN" altLang="en-US" sz="1400" dirty="0" smtClean="0"/>
              <a:t>在于</a:t>
            </a:r>
            <a:r>
              <a:rPr lang="zh-CN" altLang="en-US" sz="1400" dirty="0" smtClean="0"/>
              <a:t>被判决失信执行后，会对高消费，比如孩子上高端的私立学校会有</a:t>
            </a:r>
            <a:r>
              <a:rPr lang="zh-CN" altLang="en-US" sz="1400" dirty="0" smtClean="0"/>
              <a:t>一定的</a:t>
            </a:r>
            <a:r>
              <a:rPr lang="zh-CN" altLang="en-US" sz="1400" dirty="0" smtClean="0"/>
              <a:t>限制</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67</a:t>
            </a:r>
            <a:r>
              <a:rPr lang="zh-CN" altLang="en-US" sz="1800" b="1" dirty="0" smtClean="0"/>
              <a:t>、信用卡逾期到底什么样的情况是正式起诉？</a:t>
            </a:r>
            <a:r>
              <a:rPr lang="zh-CN" altLang="en-US" sz="1400" dirty="0" smtClean="0"/>
              <a:t/>
            </a:r>
            <a:br>
              <a:rPr lang="zh-CN" altLang="en-US" sz="1400" dirty="0" smtClean="0"/>
            </a:br>
            <a:r>
              <a:rPr lang="zh-CN" altLang="en-US" sz="1400" dirty="0" smtClean="0"/>
              <a:t>         信用卡</a:t>
            </a:r>
            <a:r>
              <a:rPr lang="zh-CN" altLang="en-US" sz="1400" dirty="0" smtClean="0"/>
              <a:t>逾期以后银行是否起诉取决于多方面的原因，包括你的负债原因</a:t>
            </a:r>
            <a:r>
              <a:rPr lang="zh-CN" altLang="en-US" sz="1400" dirty="0" smtClean="0"/>
              <a:t>、负债</a:t>
            </a:r>
            <a:r>
              <a:rPr lang="zh-CN" altLang="en-US" sz="1400" dirty="0" smtClean="0"/>
              <a:t>金额、目前的收入情况、资产负债情况、逾期以后的沟通情况等等</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68</a:t>
            </a:r>
            <a:r>
              <a:rPr lang="zh-CN" altLang="en-US" sz="1800" b="1" dirty="0" smtClean="0"/>
              <a:t>、信用卡逾期，被起诉后要给起诉费吗？</a:t>
            </a:r>
            <a:r>
              <a:rPr lang="zh-CN" altLang="en-US" sz="1400" dirty="0" smtClean="0"/>
              <a:t/>
            </a:r>
            <a:br>
              <a:rPr lang="zh-CN" altLang="en-US" sz="1400" dirty="0" smtClean="0"/>
            </a:br>
            <a:r>
              <a:rPr lang="zh-CN" altLang="en-US" sz="1400" dirty="0" smtClean="0"/>
              <a:t>         信用卡</a:t>
            </a:r>
            <a:r>
              <a:rPr lang="zh-CN" altLang="en-US" sz="1400" dirty="0" smtClean="0"/>
              <a:t>逾期被起诉以后，你需要承担一部分的起诉费用，一般从几百到</a:t>
            </a:r>
            <a:r>
              <a:rPr lang="zh-CN" altLang="en-US" sz="1400" dirty="0" smtClean="0"/>
              <a:t>几千</a:t>
            </a:r>
            <a:r>
              <a:rPr lang="zh-CN" altLang="en-US" sz="1400" dirty="0" smtClean="0"/>
              <a:t>不等</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69</a:t>
            </a:r>
            <a:r>
              <a:rPr lang="zh-CN" altLang="en-US" sz="1800" b="1" dirty="0" smtClean="0"/>
              <a:t>、网贷逾期后，催收让我信用卡套现还，我要这么做吗</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如果</a:t>
            </a:r>
            <a:r>
              <a:rPr lang="zh-CN" altLang="en-US" sz="1400" dirty="0" smtClean="0"/>
              <a:t>催收有这样的行为，那么你可以保留好相应的证据，这种行为是</a:t>
            </a:r>
            <a:r>
              <a:rPr lang="zh-CN" altLang="en-US" sz="1400" dirty="0" smtClean="0"/>
              <a:t>违规的。</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70</a:t>
            </a:r>
            <a:r>
              <a:rPr lang="zh-CN" altLang="en-US" sz="1800" b="1" dirty="0" smtClean="0"/>
              <a:t>、有人说网贷可以借了不还，可信吗？</a:t>
            </a:r>
            <a:r>
              <a:rPr lang="zh-CN" altLang="en-US" sz="1400" dirty="0" smtClean="0"/>
              <a:t/>
            </a:r>
            <a:br>
              <a:rPr lang="zh-CN" altLang="en-US" sz="1400" dirty="0" smtClean="0"/>
            </a:br>
            <a:r>
              <a:rPr lang="zh-CN" altLang="en-US" sz="1400" dirty="0" smtClean="0"/>
              <a:t>         不管</a:t>
            </a:r>
            <a:r>
              <a:rPr lang="zh-CN" altLang="en-US" sz="1400" dirty="0" smtClean="0"/>
              <a:t>是什么借款，借了钱肯定是要还的，那些说你借了可以不还的人，</a:t>
            </a:r>
            <a:r>
              <a:rPr lang="zh-CN" altLang="en-US" sz="1400" dirty="0" smtClean="0"/>
              <a:t>那么</a:t>
            </a:r>
            <a:r>
              <a:rPr lang="zh-CN" altLang="en-US" sz="1400" dirty="0" smtClean="0"/>
              <a:t>肯定是有自己的不轨的企图，千万不要相信</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endParaRPr lang="zh-CN" altLang="en-US" sz="1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357298"/>
            <a:ext cx="8215370" cy="5286412"/>
          </a:xfrm>
        </p:spPr>
        <p:txBody>
          <a:bodyPr>
            <a:normAutofit fontScale="90000"/>
          </a:bodyPr>
          <a:lstStyle/>
          <a:p>
            <a:pPr algn="l"/>
            <a:r>
              <a:rPr lang="en-US" altLang="zh-CN" sz="1800" b="1" dirty="0" smtClean="0"/>
              <a:t>71</a:t>
            </a:r>
            <a:r>
              <a:rPr lang="zh-CN" altLang="en-US" sz="1800" b="1" dirty="0" smtClean="0"/>
              <a:t>、不上征信网贷就不用还，是吗？</a:t>
            </a:r>
            <a:r>
              <a:rPr lang="zh-CN" altLang="en-US" sz="1400" dirty="0" smtClean="0"/>
              <a:t/>
            </a:r>
            <a:br>
              <a:rPr lang="zh-CN" altLang="en-US" sz="1400" dirty="0" smtClean="0"/>
            </a:br>
            <a:r>
              <a:rPr lang="zh-CN" altLang="en-US" sz="1400" dirty="0" smtClean="0"/>
              <a:t>         有些人会错误地认为不上征信的网贷就不用还，这里面是因为很多人被暴力催收了，所以导致了这种不还款的情绪</a:t>
            </a:r>
            <a:r>
              <a:rPr lang="zh-CN" altLang="en-US" sz="1400" dirty="0" smtClean="0"/>
              <a:t>，</a:t>
            </a:r>
            <a:r>
              <a:rPr lang="zh-CN" altLang="en-US" sz="1400" dirty="0" smtClean="0"/>
              <a:t>那么后面的催收还会继续，债权一直存在，除非人家放弃了这笔钱，</a:t>
            </a:r>
            <a:r>
              <a:rPr lang="zh-CN" altLang="en-US" sz="1400" dirty="0" smtClean="0"/>
              <a:t>否则人家</a:t>
            </a:r>
            <a:r>
              <a:rPr lang="zh-CN" altLang="en-US" sz="1400" dirty="0" smtClean="0"/>
              <a:t>还是会继续催收，那么最大的损失还是自己</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2000" b="1" dirty="0" smtClean="0"/>
              <a:t>72</a:t>
            </a:r>
            <a:r>
              <a:rPr lang="zh-CN" altLang="en-US" sz="2000" b="1" dirty="0" smtClean="0"/>
              <a:t>、信用卡网贷逾期后，我想强制上岸，可以吗？</a:t>
            </a:r>
            <a:r>
              <a:rPr lang="zh-CN" altLang="en-US" sz="1400" dirty="0" smtClean="0"/>
              <a:t/>
            </a:r>
            <a:br>
              <a:rPr lang="zh-CN" altLang="en-US" sz="1400" dirty="0" smtClean="0"/>
            </a:br>
            <a:r>
              <a:rPr lang="zh-CN" altLang="en-US" sz="1400" dirty="0" smtClean="0"/>
              <a:t>        很多人</a:t>
            </a:r>
            <a:r>
              <a:rPr lang="zh-CN" altLang="en-US" sz="1400" dirty="0" smtClean="0"/>
              <a:t>认为强制上岸就可以了，其实这是一种最愚蠢的做法，因为如果</a:t>
            </a:r>
            <a:r>
              <a:rPr lang="zh-CN" altLang="en-US" sz="1400" dirty="0" smtClean="0"/>
              <a:t>你这样</a:t>
            </a:r>
            <a:r>
              <a:rPr lang="zh-CN" altLang="en-US" sz="1400" dirty="0" smtClean="0"/>
              <a:t>做，那么你不可避免的会被暴力催收，你的家人亲戚朋友会接到</a:t>
            </a:r>
            <a:r>
              <a:rPr lang="zh-CN" altLang="en-US" sz="1400" dirty="0" smtClean="0"/>
              <a:t>无数的</a:t>
            </a:r>
            <a:r>
              <a:rPr lang="zh-CN" altLang="en-US" sz="1400" dirty="0" smtClean="0"/>
              <a:t>催收的电话</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2000" b="1" dirty="0" smtClean="0"/>
              <a:t>73</a:t>
            </a:r>
            <a:r>
              <a:rPr lang="zh-CN" altLang="en-US" sz="2000" b="1" dirty="0" smtClean="0"/>
              <a:t>、信用卡网贷逾期后，每天一大堆电话，到底要不要接？</a:t>
            </a:r>
            <a:r>
              <a:rPr lang="zh-CN" altLang="en-US" sz="1400" dirty="0" smtClean="0"/>
              <a:t/>
            </a:r>
            <a:br>
              <a:rPr lang="zh-CN" altLang="en-US" sz="1400" dirty="0" smtClean="0"/>
            </a:br>
            <a:r>
              <a:rPr lang="zh-CN" altLang="en-US" sz="1400" dirty="0" smtClean="0"/>
              <a:t>         信用卡</a:t>
            </a:r>
            <a:r>
              <a:rPr lang="zh-CN" altLang="en-US" sz="1400" dirty="0" smtClean="0"/>
              <a:t>逾期以后，如果电话太多，那么你可以选择性接听，不过你之前</a:t>
            </a:r>
            <a:r>
              <a:rPr lang="zh-CN" altLang="en-US" sz="1400" dirty="0" smtClean="0"/>
              <a:t>需要</a:t>
            </a:r>
            <a:r>
              <a:rPr lang="zh-CN" altLang="en-US" sz="1400" dirty="0" smtClean="0"/>
              <a:t>和银行备注好什么时候能够接听电话？什么时候不能？同时保存此段</a:t>
            </a:r>
            <a:r>
              <a:rPr lang="zh-CN" altLang="en-US" sz="1400" dirty="0" smtClean="0"/>
              <a:t>通话</a:t>
            </a:r>
            <a:r>
              <a:rPr lang="zh-CN" altLang="en-US" sz="1400" dirty="0" smtClean="0"/>
              <a:t>录音，以避免银行或者催收控告，你恶意不接电话</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2000" b="1" dirty="0" smtClean="0"/>
              <a:t>74</a:t>
            </a:r>
            <a:r>
              <a:rPr lang="zh-CN" altLang="en-US" sz="2000" b="1" dirty="0" smtClean="0"/>
              <a:t>、信用卡网贷逾期后，银行委托的第三方公司是什么意思</a:t>
            </a:r>
            <a:r>
              <a:rPr lang="en-US" altLang="zh-CN" sz="2000" b="1" dirty="0" smtClean="0"/>
              <a:t>?</a:t>
            </a:r>
            <a:r>
              <a:rPr lang="en-US" altLang="zh-CN" sz="1400" dirty="0" smtClean="0"/>
              <a:t/>
            </a:r>
            <a:br>
              <a:rPr lang="en-US" altLang="zh-CN" sz="1400" dirty="0" smtClean="0"/>
            </a:br>
            <a:r>
              <a:rPr lang="en-US" altLang="zh-CN" sz="1400" dirty="0" smtClean="0"/>
              <a:t>        </a:t>
            </a:r>
            <a:r>
              <a:rPr lang="zh-CN" altLang="en-US" sz="1400" dirty="0" smtClean="0"/>
              <a:t>银行</a:t>
            </a:r>
            <a:r>
              <a:rPr lang="zh-CN" altLang="en-US" sz="1400" dirty="0" smtClean="0"/>
              <a:t>委托的第三方，通俗一点讲就是银行的外包催收公司，银行为了</a:t>
            </a:r>
            <a:r>
              <a:rPr lang="zh-CN" altLang="en-US" sz="1400" dirty="0" smtClean="0"/>
              <a:t>降低自己</a:t>
            </a:r>
            <a:r>
              <a:rPr lang="zh-CN" altLang="en-US" sz="1400" dirty="0" smtClean="0"/>
              <a:t>的催收成本和法律风险，会把这部分催收工作委托给专门儿的公司</a:t>
            </a:r>
            <a:r>
              <a:rPr lang="zh-CN" altLang="en-US" sz="1400" dirty="0" smtClean="0"/>
              <a:t>来处理。</a:t>
            </a:r>
            <a:r>
              <a:rPr lang="en-US" altLang="zh-CN" sz="1400" dirty="0" smtClean="0"/>
              <a:t/>
            </a:r>
            <a:br>
              <a:rPr lang="en-US" altLang="zh-CN" sz="1400" dirty="0" smtClean="0"/>
            </a:br>
            <a:r>
              <a:rPr lang="zh-CN" altLang="en-US" sz="1400" dirty="0" smtClean="0"/>
              <a:t/>
            </a:r>
            <a:br>
              <a:rPr lang="zh-CN" altLang="en-US" sz="1400" dirty="0" smtClean="0"/>
            </a:br>
            <a:r>
              <a:rPr lang="en-US" altLang="zh-CN" sz="2000" b="1" dirty="0" smtClean="0"/>
              <a:t>75</a:t>
            </a:r>
            <a:r>
              <a:rPr lang="zh-CN" altLang="en-US" sz="2000" b="1" dirty="0" smtClean="0"/>
              <a:t>、上征信的信用卡逾期会影响领结婚证吗？</a:t>
            </a:r>
            <a:r>
              <a:rPr lang="zh-CN" altLang="en-US" sz="1400" dirty="0" smtClean="0"/>
              <a:t/>
            </a:r>
            <a:br>
              <a:rPr lang="zh-CN" altLang="en-US" sz="1400" dirty="0" smtClean="0"/>
            </a:br>
            <a:r>
              <a:rPr lang="zh-CN" altLang="en-US" sz="1400" dirty="0" smtClean="0"/>
              <a:t>         信用卡</a:t>
            </a:r>
            <a:r>
              <a:rPr lang="zh-CN" altLang="en-US" sz="1400" dirty="0" smtClean="0"/>
              <a:t>逾期和你结婚证领取没有太大关系，就算你信用卡逾期，你也是</a:t>
            </a:r>
            <a:r>
              <a:rPr lang="zh-CN" altLang="en-US" sz="1400" dirty="0" smtClean="0"/>
              <a:t>可以</a:t>
            </a:r>
            <a:r>
              <a:rPr lang="zh-CN" altLang="en-US" sz="1400" dirty="0" smtClean="0"/>
              <a:t>结婚领结婚证的</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2000" b="1" dirty="0" smtClean="0"/>
              <a:t>76</a:t>
            </a:r>
            <a:r>
              <a:rPr lang="zh-CN" altLang="en-US" sz="2000" b="1" dirty="0" smtClean="0"/>
              <a:t>、网贷为什么会知道我通讯录其他人的信息？给他们打电话</a:t>
            </a:r>
            <a:r>
              <a:rPr lang="zh-CN" altLang="en-US" sz="1400" dirty="0" smtClean="0"/>
              <a:t/>
            </a:r>
            <a:br>
              <a:rPr lang="zh-CN" altLang="en-US" sz="1400" dirty="0" smtClean="0"/>
            </a:br>
            <a:r>
              <a:rPr lang="zh-CN" altLang="en-US" sz="1400" dirty="0" smtClean="0"/>
              <a:t>         很多人</a:t>
            </a:r>
            <a:r>
              <a:rPr lang="zh-CN" altLang="en-US" sz="1400" dirty="0" smtClean="0"/>
              <a:t>很困惑，为什么自己的手机号码没有向任何人泄露？怎么会被催</a:t>
            </a:r>
            <a:r>
              <a:rPr lang="zh-CN" altLang="en-US" sz="1400" dirty="0" smtClean="0"/>
              <a:t>收呢</a:t>
            </a:r>
            <a:r>
              <a:rPr lang="zh-CN" altLang="en-US" sz="1400" dirty="0" smtClean="0"/>
              <a:t>？因为目前处于大数据时代，个人的隐私变得越来越透明，催收公司</a:t>
            </a:r>
            <a:r>
              <a:rPr lang="zh-CN" altLang="en-US" sz="1400" dirty="0" smtClean="0"/>
              <a:t>会通过</a:t>
            </a:r>
            <a:r>
              <a:rPr lang="zh-CN" altLang="en-US" sz="1400" dirty="0" smtClean="0"/>
              <a:t>和大数据公司的合作来获取你个人的数据</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endParaRPr lang="zh-CN" altLang="en-US" sz="1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1"/>
            <a:ext cx="9144000" cy="6858000"/>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643050"/>
            <a:ext cx="8215370" cy="5072098"/>
          </a:xfrm>
        </p:spPr>
        <p:txBody>
          <a:bodyPr>
            <a:normAutofit fontScale="90000"/>
          </a:bodyPr>
          <a:lstStyle/>
          <a:p>
            <a:pPr algn="l"/>
            <a:r>
              <a:rPr lang="en-US" altLang="zh-CN" sz="2000" b="1" dirty="0" smtClean="0"/>
              <a:t>77</a:t>
            </a:r>
            <a:r>
              <a:rPr lang="zh-CN" altLang="en-US" sz="2000" b="1" dirty="0" smtClean="0"/>
              <a:t>、信用卡网贷逾期后，银行去村委调查我的信息合法吗？</a:t>
            </a:r>
            <a:r>
              <a:rPr lang="zh-CN" altLang="en-US" sz="1400" dirty="0" smtClean="0"/>
              <a:t/>
            </a:r>
            <a:br>
              <a:rPr lang="zh-CN" altLang="en-US" sz="1400" dirty="0" smtClean="0"/>
            </a:br>
            <a:r>
              <a:rPr lang="zh-CN" altLang="en-US" sz="1400" dirty="0" smtClean="0"/>
              <a:t>        银行去户籍地了解你的情况，尤其是通过村委会来了解你的个人信息，这里边是否合法合规取决于他们的一些沟通行为，以及之前你和银行包括催但是如果你这笔钱不还</a:t>
            </a:r>
            <a:r>
              <a:rPr lang="zh-CN" altLang="en-US" sz="1400" dirty="0" smtClean="0"/>
              <a:t>的话</a:t>
            </a:r>
            <a:r>
              <a:rPr lang="zh-CN" altLang="en-US" sz="1400" dirty="0" smtClean="0"/>
              <a:t>收公司的一个沟通情况，如果你一直失联逃避，那么他们这样的做法你</a:t>
            </a:r>
            <a:r>
              <a:rPr lang="zh-CN" altLang="en-US" sz="1400" dirty="0" smtClean="0"/>
              <a:t>没有</a:t>
            </a:r>
            <a:r>
              <a:rPr lang="zh-CN" altLang="en-US" sz="1400" dirty="0" smtClean="0"/>
              <a:t>任何理由去反驳</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2000" b="1" dirty="0" smtClean="0"/>
              <a:t>78</a:t>
            </a:r>
            <a:r>
              <a:rPr lang="zh-CN" altLang="en-US" sz="2000" b="1" dirty="0" smtClean="0"/>
              <a:t>、信用卡网贷逾期后，银行到公司了解我的情况合规吗？</a:t>
            </a:r>
            <a:r>
              <a:rPr lang="zh-CN" altLang="en-US" sz="1400" dirty="0" smtClean="0"/>
              <a:t/>
            </a:r>
            <a:br>
              <a:rPr lang="zh-CN" altLang="en-US" sz="1400" dirty="0" smtClean="0"/>
            </a:br>
            <a:r>
              <a:rPr lang="zh-CN" altLang="en-US" sz="1400" dirty="0" smtClean="0"/>
              <a:t>         银行</a:t>
            </a:r>
            <a:r>
              <a:rPr lang="zh-CN" altLang="en-US" sz="1400" dirty="0" smtClean="0"/>
              <a:t>到你的公司了解你的个人情况，一般而言是没有太大问题。但是</a:t>
            </a:r>
            <a:r>
              <a:rPr lang="zh-CN" altLang="en-US" sz="1400" dirty="0" smtClean="0"/>
              <a:t>为了避免</a:t>
            </a:r>
            <a:r>
              <a:rPr lang="zh-CN" altLang="en-US" sz="1400" dirty="0" smtClean="0"/>
              <a:t>对于你个人名誉和工作造成的影响，我们建议你提前和银行沟通，</a:t>
            </a:r>
            <a:r>
              <a:rPr lang="zh-CN" altLang="en-US" sz="1400" dirty="0" smtClean="0"/>
              <a:t>主动</a:t>
            </a:r>
            <a:r>
              <a:rPr lang="zh-CN" altLang="en-US" sz="1400" dirty="0" smtClean="0"/>
              <a:t>和他们见面，那么地址你可以自己选择，掌握一定的主动权，避免</a:t>
            </a:r>
            <a:r>
              <a:rPr lang="zh-CN" altLang="en-US" sz="1400" dirty="0" smtClean="0"/>
              <a:t>不必要</a:t>
            </a:r>
            <a:r>
              <a:rPr lang="zh-CN" altLang="en-US" sz="1400" dirty="0" smtClean="0"/>
              <a:t>的损失</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2000" b="1" dirty="0" smtClean="0"/>
              <a:t>79</a:t>
            </a:r>
            <a:r>
              <a:rPr lang="zh-CN" altLang="en-US" sz="2000" b="1" dirty="0" smtClean="0"/>
              <a:t>、为啥我的信用卡逾期后，会越还越多？</a:t>
            </a:r>
            <a:r>
              <a:rPr lang="zh-CN" altLang="en-US" sz="1400" dirty="0" smtClean="0"/>
              <a:t/>
            </a:r>
            <a:br>
              <a:rPr lang="zh-CN" altLang="en-US" sz="1400" dirty="0" smtClean="0"/>
            </a:br>
            <a:r>
              <a:rPr lang="zh-CN" altLang="en-US" sz="1400" dirty="0" smtClean="0"/>
              <a:t>         信用卡</a:t>
            </a:r>
            <a:r>
              <a:rPr lang="zh-CN" altLang="en-US" sz="1400" dirty="0" smtClean="0"/>
              <a:t>逾期以后三个月之内你还款的金额都是先抵充利息违约金手续费</a:t>
            </a:r>
            <a:r>
              <a:rPr lang="zh-CN" altLang="en-US" sz="1400" dirty="0" smtClean="0"/>
              <a:t>，所以</a:t>
            </a:r>
            <a:r>
              <a:rPr lang="zh-CN" altLang="en-US" sz="1400" dirty="0" smtClean="0"/>
              <a:t>这个时候你的本金并没有减少，但是你一但逾期每个月都会产生</a:t>
            </a:r>
            <a:r>
              <a:rPr lang="zh-CN" altLang="en-US" sz="1400" dirty="0" smtClean="0"/>
              <a:t>利息和</a:t>
            </a:r>
            <a:r>
              <a:rPr lang="zh-CN" altLang="en-US" sz="1400" dirty="0" smtClean="0"/>
              <a:t>违约金，以及之前分期手续费后面没有还清的，这些都会算到你的</a:t>
            </a:r>
            <a:r>
              <a:rPr lang="zh-CN" altLang="en-US" sz="1400" dirty="0" smtClean="0"/>
              <a:t>账单里面</a:t>
            </a:r>
            <a:r>
              <a:rPr lang="zh-CN" altLang="en-US" sz="1400" dirty="0" smtClean="0"/>
              <a:t>。一般而言你每个月的违约金和利息，如果你已经没有最低还款了</a:t>
            </a:r>
            <a:r>
              <a:rPr lang="zh-CN" altLang="en-US" sz="1400" dirty="0" smtClean="0"/>
              <a:t>，那么</a:t>
            </a:r>
            <a:r>
              <a:rPr lang="zh-CN" altLang="en-US" sz="1400" dirty="0" smtClean="0"/>
              <a:t>这个比例大概是</a:t>
            </a:r>
            <a:r>
              <a:rPr lang="en-US" altLang="zh-CN" sz="1400" dirty="0" smtClean="0"/>
              <a:t>6.5%</a:t>
            </a:r>
            <a:r>
              <a:rPr lang="zh-CN" altLang="en-US" sz="1400" dirty="0" smtClean="0"/>
              <a:t>左右，综合年化达到</a:t>
            </a:r>
            <a:r>
              <a:rPr lang="en-US" altLang="zh-CN" sz="1400" dirty="0" smtClean="0"/>
              <a:t>80%</a:t>
            </a:r>
            <a:r>
              <a:rPr lang="zh-CN" altLang="en-US" sz="1400" dirty="0" smtClean="0"/>
              <a:t>以上，所以你的感觉</a:t>
            </a:r>
            <a:r>
              <a:rPr lang="zh-CN" altLang="en-US" sz="1400" dirty="0" smtClean="0"/>
              <a:t>是钱</a:t>
            </a:r>
            <a:r>
              <a:rPr lang="zh-CN" altLang="en-US" sz="1400" dirty="0" smtClean="0"/>
              <a:t>越还越多</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2000" b="1" dirty="0" smtClean="0"/>
              <a:t>80</a:t>
            </a:r>
            <a:r>
              <a:rPr lang="zh-CN" altLang="en-US" sz="2000" b="1" dirty="0" smtClean="0"/>
              <a:t>、信用卡网贷逾期后，催收敢上门，我就打断他的腿，这种</a:t>
            </a:r>
            <a:r>
              <a:rPr lang="zh-CN" altLang="en-US" sz="2000" b="1" dirty="0" smtClean="0"/>
              <a:t>想法</a:t>
            </a:r>
            <a:r>
              <a:rPr lang="zh-CN" altLang="en-US" sz="2000" b="1" dirty="0" smtClean="0"/>
              <a:t>对吗？</a:t>
            </a:r>
            <a:r>
              <a:rPr lang="zh-CN" altLang="en-US" sz="1400" dirty="0" smtClean="0"/>
              <a:t/>
            </a:r>
            <a:br>
              <a:rPr lang="zh-CN" altLang="en-US" sz="1400" dirty="0" smtClean="0"/>
            </a:br>
            <a:r>
              <a:rPr lang="zh-CN" altLang="en-US" sz="1400" dirty="0" smtClean="0"/>
              <a:t>         其实</a:t>
            </a:r>
            <a:r>
              <a:rPr lang="zh-CN" altLang="en-US" sz="1400" dirty="0" smtClean="0"/>
              <a:t>很多催收或者说银行上门的这些行为，如果按照法律法规的流程</a:t>
            </a:r>
            <a:r>
              <a:rPr lang="zh-CN" altLang="en-US" sz="1400" dirty="0" smtClean="0"/>
              <a:t>来走</a:t>
            </a:r>
            <a:r>
              <a:rPr lang="zh-CN" altLang="en-US" sz="1400" dirty="0" smtClean="0"/>
              <a:t>，那么并没有任何问题，没有必要通过暴力冲突导致双方的关系更加</a:t>
            </a:r>
            <a:r>
              <a:rPr lang="zh-CN" altLang="en-US" sz="1400" dirty="0" smtClean="0"/>
              <a:t>僵化</a:t>
            </a:r>
            <a:r>
              <a:rPr lang="zh-CN" altLang="en-US" sz="1400" dirty="0" smtClean="0"/>
              <a:t>，或者说避免一些不可控的事情发生，我们应该以合法合规的方式来</a:t>
            </a:r>
            <a:r>
              <a:rPr lang="zh-CN" altLang="en-US" sz="1400" dirty="0" smtClean="0"/>
              <a:t>处理</a:t>
            </a:r>
            <a:r>
              <a:rPr lang="zh-CN" altLang="en-US" sz="1400" dirty="0" smtClean="0"/>
              <a:t>这个问题</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2000" b="1" dirty="0" smtClean="0"/>
              <a:t>81</a:t>
            </a:r>
            <a:r>
              <a:rPr lang="zh-CN" altLang="en-US" sz="2000" b="1" dirty="0" smtClean="0"/>
              <a:t>、信用卡还没有逾期，我最低还款，算逾期吗？</a:t>
            </a:r>
            <a:r>
              <a:rPr lang="zh-CN" altLang="en-US" sz="1400" dirty="0" smtClean="0"/>
              <a:t/>
            </a:r>
            <a:br>
              <a:rPr lang="zh-CN" altLang="en-US" sz="1400" dirty="0" smtClean="0"/>
            </a:br>
            <a:r>
              <a:rPr lang="zh-CN" altLang="en-US" sz="1400" dirty="0" smtClean="0"/>
              <a:t>         如果</a:t>
            </a:r>
            <a:r>
              <a:rPr lang="zh-CN" altLang="en-US" sz="1400" dirty="0" smtClean="0"/>
              <a:t>你信用卡没有逾期，但是你有最低还款，而且你已经全部还了，</a:t>
            </a:r>
            <a:r>
              <a:rPr lang="zh-CN" altLang="en-US" sz="1400" dirty="0" smtClean="0"/>
              <a:t>那么这个</a:t>
            </a:r>
            <a:r>
              <a:rPr lang="zh-CN" altLang="en-US" sz="1400" dirty="0" smtClean="0"/>
              <a:t>不构成逾期，但是每个月会产生一定的利息，具体利息金额的多少</a:t>
            </a:r>
            <a:r>
              <a:rPr lang="zh-CN" altLang="en-US" sz="1400" dirty="0" smtClean="0"/>
              <a:t>，你</a:t>
            </a:r>
            <a:r>
              <a:rPr lang="zh-CN" altLang="en-US" sz="1400" dirty="0" smtClean="0"/>
              <a:t>可以在下一笔账单的明细里面查看。</a:t>
            </a:r>
            <a:br>
              <a:rPr lang="zh-CN" altLang="en-US" sz="1400" dirty="0" smtClean="0"/>
            </a:br>
            <a:r>
              <a:rPr lang="en-US" altLang="zh-CN" sz="1400" dirty="0" smtClean="0"/>
              <a:t/>
            </a:r>
            <a:br>
              <a:rPr lang="en-US" altLang="zh-CN" sz="1400" dirty="0" smtClean="0"/>
            </a:br>
            <a:endParaRPr lang="zh-CN" altLang="en-US" sz="1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214422"/>
            <a:ext cx="8215370" cy="5214974"/>
          </a:xfrm>
        </p:spPr>
        <p:txBody>
          <a:bodyPr>
            <a:normAutofit/>
          </a:bodyPr>
          <a:lstStyle/>
          <a:p>
            <a:pPr algn="l"/>
            <a:r>
              <a:rPr lang="en-US" altLang="zh-CN" sz="1800" b="1" dirty="0" smtClean="0"/>
              <a:t>82</a:t>
            </a:r>
            <a:r>
              <a:rPr lang="zh-CN" altLang="en-US" sz="1800" b="1" dirty="0" smtClean="0"/>
              <a:t>、信用卡我还不上了，我用</a:t>
            </a:r>
            <a:r>
              <a:rPr lang="en-US" altLang="zh-CN" sz="1800" b="1" dirty="0" smtClean="0"/>
              <a:t>POS </a:t>
            </a:r>
            <a:r>
              <a:rPr lang="zh-CN" altLang="en-US" sz="1800" b="1" dirty="0" smtClean="0"/>
              <a:t>机或者代还软件可以吗？</a:t>
            </a:r>
            <a:r>
              <a:rPr lang="zh-CN" altLang="en-US" sz="1400" dirty="0" smtClean="0"/>
              <a:t/>
            </a:r>
            <a:br>
              <a:rPr lang="zh-CN" altLang="en-US" sz="1400" dirty="0" smtClean="0"/>
            </a:br>
            <a:r>
              <a:rPr lang="zh-CN" altLang="en-US" sz="1400" dirty="0" smtClean="0"/>
              <a:t>         如果</a:t>
            </a:r>
            <a:r>
              <a:rPr lang="zh-CN" altLang="en-US" sz="1400" dirty="0" smtClean="0"/>
              <a:t>你信用卡或者信用卡里面贷款还没有逾期，那么你有两个选择，</a:t>
            </a:r>
            <a:r>
              <a:rPr lang="zh-CN" altLang="en-US" sz="1400" dirty="0" smtClean="0"/>
              <a:t>第一个</a:t>
            </a:r>
            <a:r>
              <a:rPr lang="zh-CN" altLang="en-US" sz="1400" dirty="0" smtClean="0"/>
              <a:t>是继续借钱，还最低还款，或者说通过</a:t>
            </a:r>
            <a:r>
              <a:rPr lang="en-US" altLang="zh-CN" sz="1400" dirty="0" smtClean="0"/>
              <a:t>POS </a:t>
            </a:r>
            <a:r>
              <a:rPr lang="zh-CN" altLang="en-US" sz="1400" dirty="0" smtClean="0"/>
              <a:t>机等软件的方式来还，</a:t>
            </a:r>
            <a:r>
              <a:rPr lang="zh-CN" altLang="en-US" sz="1400" dirty="0" smtClean="0"/>
              <a:t>这样的</a:t>
            </a:r>
            <a:r>
              <a:rPr lang="zh-CN" altLang="en-US" sz="1400" dirty="0" smtClean="0"/>
              <a:t>方式能够保证你不逾期，但是这样的方式会增加你每个月的手续费和</a:t>
            </a:r>
            <a:r>
              <a:rPr lang="zh-CN" altLang="en-US" sz="1400" dirty="0" smtClean="0"/>
              <a:t>利息</a:t>
            </a:r>
            <a:r>
              <a:rPr lang="zh-CN" altLang="en-US" sz="1400" dirty="0" smtClean="0"/>
              <a:t>，年化可以达到</a:t>
            </a:r>
            <a:r>
              <a:rPr lang="en-US" altLang="zh-CN" sz="1400" dirty="0" smtClean="0"/>
              <a:t>15%</a:t>
            </a:r>
            <a:r>
              <a:rPr lang="zh-CN" altLang="en-US" sz="1400" dirty="0" smtClean="0"/>
              <a:t>到</a:t>
            </a:r>
            <a:r>
              <a:rPr lang="en-US" altLang="zh-CN" sz="1400" dirty="0" smtClean="0"/>
              <a:t>20%</a:t>
            </a:r>
            <a:r>
              <a:rPr lang="zh-CN" altLang="en-US" sz="1400" dirty="0" smtClean="0"/>
              <a:t>，如果你有十万，那每年的利息和手续费</a:t>
            </a:r>
            <a:r>
              <a:rPr lang="zh-CN" altLang="en-US" sz="1400" dirty="0" smtClean="0"/>
              <a:t>达到</a:t>
            </a:r>
            <a:r>
              <a:rPr lang="en-US" altLang="zh-CN" sz="1400" dirty="0" smtClean="0"/>
              <a:t>15000 </a:t>
            </a:r>
            <a:r>
              <a:rPr lang="zh-CN" altLang="en-US" sz="1400" dirty="0" smtClean="0"/>
              <a:t>到</a:t>
            </a:r>
            <a:r>
              <a:rPr lang="en-US" altLang="zh-CN" sz="1400" dirty="0" smtClean="0"/>
              <a:t>20000</a:t>
            </a:r>
            <a:r>
              <a:rPr lang="zh-CN" altLang="en-US" sz="1400" dirty="0" smtClean="0"/>
              <a:t>。债少少只能帮助已经逾期的客户做停息，再分期，</a:t>
            </a:r>
            <a:r>
              <a:rPr lang="zh-CN" altLang="en-US" sz="1400" dirty="0" smtClean="0"/>
              <a:t>这样</a:t>
            </a:r>
            <a:r>
              <a:rPr lang="zh-CN" altLang="en-US" sz="1400" dirty="0" smtClean="0"/>
              <a:t>做的好处是你不会有再新的违约金利息产生，但是你需要具备</a:t>
            </a:r>
            <a:r>
              <a:rPr lang="en-US" altLang="zh-CN" sz="1400" dirty="0" smtClean="0"/>
              <a:t>10%</a:t>
            </a:r>
            <a:r>
              <a:rPr lang="zh-CN" altLang="en-US" sz="1400" dirty="0" smtClean="0"/>
              <a:t>的</a:t>
            </a:r>
            <a:r>
              <a:rPr lang="zh-CN" altLang="en-US" sz="1400" dirty="0" smtClean="0"/>
              <a:t>服务费</a:t>
            </a:r>
            <a:r>
              <a:rPr lang="zh-CN" altLang="en-US" sz="1400" dirty="0" smtClean="0"/>
              <a:t>和律师费，同时，我们可以帮你分期</a:t>
            </a:r>
            <a:r>
              <a:rPr lang="en-US" altLang="zh-CN" sz="1400" dirty="0" smtClean="0"/>
              <a:t>2-5 </a:t>
            </a:r>
            <a:r>
              <a:rPr lang="zh-CN" altLang="en-US" sz="1400" dirty="0" smtClean="0"/>
              <a:t>年，确保你每个月的收入</a:t>
            </a:r>
            <a:r>
              <a:rPr lang="zh-CN" altLang="en-US" sz="1400" dirty="0" smtClean="0"/>
              <a:t>能够</a:t>
            </a:r>
            <a:r>
              <a:rPr lang="zh-CN" altLang="en-US" sz="1400" dirty="0" smtClean="0"/>
              <a:t>覆盖还款，同时你的征信会有一条逾期记录，但是这个逾期记录和</a:t>
            </a:r>
            <a:r>
              <a:rPr lang="zh-CN" altLang="en-US" sz="1400" dirty="0" smtClean="0"/>
              <a:t>失信执行</a:t>
            </a:r>
            <a:r>
              <a:rPr lang="zh-CN" altLang="en-US" sz="1400" dirty="0" smtClean="0"/>
              <a:t>黑名单不同，他不会影响你的任何消费，只会影响你和银行之间的</a:t>
            </a:r>
            <a:r>
              <a:rPr lang="zh-CN" altLang="en-US" sz="1400" dirty="0" smtClean="0"/>
              <a:t>贷款</a:t>
            </a:r>
            <a:r>
              <a:rPr lang="zh-CN" altLang="en-US" sz="1400" dirty="0" smtClean="0"/>
              <a:t>问题，但是话说回来，就算你没有逾期，你的负债率很高，也很难从</a:t>
            </a:r>
            <a:r>
              <a:rPr lang="zh-CN" altLang="en-US" sz="1400" dirty="0" smtClean="0"/>
              <a:t>银行贷款。</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83</a:t>
            </a:r>
            <a:r>
              <a:rPr lang="zh-CN" altLang="en-US" sz="1800" b="1" dirty="0" smtClean="0"/>
              <a:t>、信用卡逾期，如何才能不坐牢？</a:t>
            </a:r>
            <a:r>
              <a:rPr lang="zh-CN" altLang="en-US" sz="1400" dirty="0" smtClean="0"/>
              <a:t/>
            </a:r>
            <a:br>
              <a:rPr lang="zh-CN" altLang="en-US" sz="1400" dirty="0" smtClean="0"/>
            </a:br>
            <a:r>
              <a:rPr lang="zh-CN" altLang="en-US" sz="1400" dirty="0" smtClean="0"/>
              <a:t>         一般而言</a:t>
            </a:r>
            <a:r>
              <a:rPr lang="zh-CN" altLang="en-US" sz="1400" dirty="0" smtClean="0"/>
              <a:t>，信用卡逾期以后如果你能够主动积极地和银行沟通，表达</a:t>
            </a:r>
            <a:r>
              <a:rPr lang="zh-CN" altLang="en-US" sz="1400" dirty="0" smtClean="0"/>
              <a:t>自己的</a:t>
            </a:r>
            <a:r>
              <a:rPr lang="zh-CN" altLang="en-US" sz="1400" dirty="0" smtClean="0"/>
              <a:t>还款意愿，向对方说清楚自己的负债情况和收入情况，并不构成</a:t>
            </a:r>
            <a:r>
              <a:rPr lang="zh-CN" altLang="en-US" sz="1400" dirty="0" smtClean="0"/>
              <a:t>信用卡诈骗</a:t>
            </a:r>
            <a:r>
              <a:rPr lang="zh-CN" altLang="en-US" sz="1400" dirty="0" smtClean="0"/>
              <a:t>，那么也就不会有坐牢的问题</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84</a:t>
            </a:r>
            <a:r>
              <a:rPr lang="zh-CN" altLang="en-US" sz="1800" b="1" dirty="0" smtClean="0"/>
              <a:t>、网贷的合规利息如何计算？</a:t>
            </a:r>
            <a:r>
              <a:rPr lang="zh-CN" altLang="en-US" sz="1400" dirty="0" smtClean="0"/>
              <a:t/>
            </a:r>
            <a:br>
              <a:rPr lang="zh-CN" altLang="en-US" sz="1400" dirty="0" smtClean="0"/>
            </a:br>
            <a:r>
              <a:rPr lang="zh-CN" altLang="en-US" sz="1400" dirty="0" smtClean="0"/>
              <a:t>         网</a:t>
            </a:r>
            <a:r>
              <a:rPr lang="zh-CN" altLang="en-US" sz="1400" dirty="0" smtClean="0"/>
              <a:t>贷的合规利息一般按照到手金额每年最多</a:t>
            </a:r>
            <a:r>
              <a:rPr lang="en-US" altLang="zh-CN" sz="1400" dirty="0" smtClean="0"/>
              <a:t>24%</a:t>
            </a:r>
            <a:r>
              <a:rPr lang="zh-CN" altLang="en-US" sz="1400" dirty="0" smtClean="0"/>
              <a:t>的利息计算，比如说你</a:t>
            </a:r>
            <a:r>
              <a:rPr lang="zh-CN" altLang="en-US" sz="1400" dirty="0" smtClean="0"/>
              <a:t>到手</a:t>
            </a:r>
            <a:r>
              <a:rPr lang="zh-CN" altLang="en-US" sz="1400" dirty="0" smtClean="0"/>
              <a:t>金额</a:t>
            </a:r>
            <a:r>
              <a:rPr lang="en-US" altLang="zh-CN" sz="1400" dirty="0" smtClean="0"/>
              <a:t>1 </a:t>
            </a:r>
            <a:r>
              <a:rPr lang="zh-CN" altLang="en-US" sz="1400" dirty="0" smtClean="0"/>
              <a:t>万块钱，那么一年最多的利息是</a:t>
            </a:r>
            <a:r>
              <a:rPr lang="en-US" altLang="zh-CN" sz="1400" dirty="0" smtClean="0"/>
              <a:t>2400 </a:t>
            </a:r>
            <a:r>
              <a:rPr lang="zh-CN" altLang="en-US" sz="1400" dirty="0" smtClean="0"/>
              <a:t>块钱</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85</a:t>
            </a:r>
            <a:r>
              <a:rPr lang="zh-CN" altLang="en-US" sz="1800" b="1" dirty="0" smtClean="0"/>
              <a:t>、有些网贷的保险费是怎么一回事？</a:t>
            </a:r>
            <a:r>
              <a:rPr lang="zh-CN" altLang="en-US" sz="1400" dirty="0" smtClean="0"/>
              <a:t/>
            </a:r>
            <a:br>
              <a:rPr lang="zh-CN" altLang="en-US" sz="1400" dirty="0" smtClean="0"/>
            </a:br>
            <a:r>
              <a:rPr lang="zh-CN" altLang="en-US" sz="1400" dirty="0" smtClean="0"/>
              <a:t>         部分</a:t>
            </a:r>
            <a:r>
              <a:rPr lang="zh-CN" altLang="en-US" sz="1400" dirty="0" smtClean="0"/>
              <a:t>网络贷款平台有保险费，这个保险费是由借款人承担，如果借款人</a:t>
            </a:r>
            <a:r>
              <a:rPr lang="zh-CN" altLang="en-US" sz="1400" dirty="0" smtClean="0"/>
              <a:t>最后</a:t>
            </a:r>
            <a:r>
              <a:rPr lang="zh-CN" altLang="en-US" sz="1400" dirty="0" smtClean="0"/>
              <a:t>逾期还不上款项达到一定时间，保险公司会把借款人的这笔钱还给</a:t>
            </a:r>
            <a:r>
              <a:rPr lang="zh-CN" altLang="en-US" sz="1400" dirty="0" smtClean="0"/>
              <a:t>贷款平台</a:t>
            </a:r>
            <a:r>
              <a:rPr lang="zh-CN" altLang="en-US" sz="1400" dirty="0" smtClean="0"/>
              <a:t>。但是，保险公司会依旧向借款人催收这笔款项，从公平角度来看</a:t>
            </a:r>
            <a:r>
              <a:rPr lang="zh-CN" altLang="en-US" sz="1400" dirty="0" smtClean="0"/>
              <a:t>是有失</a:t>
            </a:r>
            <a:r>
              <a:rPr lang="zh-CN" altLang="en-US" sz="1400" dirty="0" smtClean="0"/>
              <a:t>公允</a:t>
            </a:r>
            <a:r>
              <a:rPr lang="zh-CN" altLang="en-US" sz="1400" dirty="0" smtClean="0"/>
              <a:t>的 </a:t>
            </a:r>
            <a:r>
              <a:rPr lang="zh-CN" altLang="en-US" sz="1400" dirty="0" smtClean="0"/>
              <a:t>。</a:t>
            </a:r>
            <a:endParaRPr lang="zh-CN" altLang="en-US" sz="1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214422"/>
            <a:ext cx="8215370" cy="5429288"/>
          </a:xfrm>
        </p:spPr>
        <p:txBody>
          <a:bodyPr>
            <a:normAutofit/>
          </a:bodyPr>
          <a:lstStyle/>
          <a:p>
            <a:pPr algn="l"/>
            <a:r>
              <a:rPr lang="en-US" altLang="zh-CN" sz="1800" b="1" dirty="0" smtClean="0"/>
              <a:t>86</a:t>
            </a:r>
            <a:r>
              <a:rPr lang="zh-CN" altLang="en-US" sz="1800" b="1" dirty="0" smtClean="0"/>
              <a:t>、信用卡逾期后，哪些做法是对我最不利的？</a:t>
            </a:r>
            <a:r>
              <a:rPr lang="zh-CN" altLang="en-US" sz="1400" dirty="0" smtClean="0"/>
              <a:t/>
            </a:r>
            <a:br>
              <a:rPr lang="zh-CN" altLang="en-US" sz="1400" dirty="0" smtClean="0"/>
            </a:br>
            <a:r>
              <a:rPr lang="zh-CN" altLang="en-US" sz="1400" dirty="0" smtClean="0"/>
              <a:t>         信用卡逾期以后失联逃避和催收互相对骂，这些是最不可取的，所以大家切记逾期以后一定要通过合法合规的方式来沟通，避免浪费自己的时间和影响自己的生活，影响自己的心情。</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87</a:t>
            </a:r>
            <a:r>
              <a:rPr lang="zh-CN" altLang="en-US" sz="1800" b="1" dirty="0" smtClean="0"/>
              <a:t>、信用卡逾期后，银行是如何掌握话语权，对我最不利的？</a:t>
            </a:r>
            <a:r>
              <a:rPr lang="zh-CN" altLang="en-US" sz="1400" dirty="0" smtClean="0"/>
              <a:t/>
            </a:r>
            <a:br>
              <a:rPr lang="zh-CN" altLang="en-US" sz="1400" dirty="0" smtClean="0"/>
            </a:br>
            <a:r>
              <a:rPr lang="zh-CN" altLang="en-US" sz="1400" dirty="0" smtClean="0"/>
              <a:t>         信用卡逾期以后，你的每一笔消费情况，你和银行的每一笔沟通情况，银行都会有相应的材料和证据保留，包括你的每一通电话，每一个短信，如果你存在把信用卡的资金用于非法用途的，从法律上讲银行是可以以信用卡恶意透支起诉，面对信用卡逾期一定要积极面对而不是逃避。</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88</a:t>
            </a:r>
            <a:r>
              <a:rPr lang="zh-CN" altLang="en-US" sz="1800" b="1" dirty="0" smtClean="0"/>
              <a:t>、信用卡有些逾期，有些没有逾期，我要保住没有逾期的吗？</a:t>
            </a:r>
            <a:r>
              <a:rPr lang="zh-CN" altLang="en-US" sz="1400" dirty="0" smtClean="0"/>
              <a:t/>
            </a:r>
            <a:br>
              <a:rPr lang="zh-CN" altLang="en-US" sz="1400" dirty="0" smtClean="0"/>
            </a:br>
            <a:r>
              <a:rPr lang="zh-CN" altLang="en-US" sz="1400" dirty="0" smtClean="0"/>
              <a:t>         一般而言，如果你已经有一张信用卡逾期，那么央行的大数据是可以监测到，同时这一部分数据是被其他银行所共享，那么为了避免自己的资金风险，银行很有可能降低你的其他信用卡的额度或者说封卡，如果其他信用卡你继续通过一定的方式最低还款和分期还款或者说以贷还款的方式，那么很有可能导致你的债务规模越来越大。</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89</a:t>
            </a:r>
            <a:r>
              <a:rPr lang="zh-CN" altLang="en-US" sz="1800" b="1" dirty="0" smtClean="0"/>
              <a:t>、信用卡网贷逾期后，为什么我的欠款会越还越多？</a:t>
            </a:r>
            <a:r>
              <a:rPr lang="zh-CN" altLang="en-US" sz="1400" dirty="0" smtClean="0"/>
              <a:t/>
            </a:r>
            <a:br>
              <a:rPr lang="zh-CN" altLang="en-US" sz="1400" dirty="0" smtClean="0"/>
            </a:br>
            <a:r>
              <a:rPr lang="zh-CN" altLang="en-US" sz="1400" dirty="0" smtClean="0"/>
              <a:t>         不管是信用卡还是网络贷款，逾期以后一定会产生相应的违约金和利息，如果你不掌握住正确的还款方式及时止损的话，那么你的违约金利息会越来越多，同时你的债务规模会越来越大。</a:t>
            </a:r>
            <a:r>
              <a:rPr lang="en-US" altLang="zh-CN" sz="1400" dirty="0" smtClean="0"/>
              <a:t/>
            </a:r>
            <a:br>
              <a:rPr lang="en-US" altLang="zh-CN" sz="1400" dirty="0" smtClean="0"/>
            </a:br>
            <a:r>
              <a:rPr lang="zh-CN" altLang="en-US" sz="1400" dirty="0" smtClean="0"/>
              <a:t/>
            </a:r>
            <a:br>
              <a:rPr lang="zh-CN" altLang="en-US" sz="1400" dirty="0" smtClean="0"/>
            </a:br>
            <a:r>
              <a:rPr lang="en-US" altLang="zh-CN" sz="1800" b="1" dirty="0" smtClean="0"/>
              <a:t>90</a:t>
            </a:r>
            <a:r>
              <a:rPr lang="zh-CN" altLang="en-US" sz="1800" b="1" dirty="0" smtClean="0"/>
              <a:t>、网贷不还会怎么样</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网络</a:t>
            </a:r>
            <a:r>
              <a:rPr lang="zh-CN" altLang="en-US" sz="1400" dirty="0" smtClean="0"/>
              <a:t>贷款，如果你不还款，或者说有些人想强上岸，那么你的亲戚朋友</a:t>
            </a:r>
            <a:r>
              <a:rPr lang="zh-CN" altLang="en-US" sz="1400" dirty="0" smtClean="0"/>
              <a:t>极大</a:t>
            </a:r>
            <a:r>
              <a:rPr lang="zh-CN" altLang="en-US" sz="1400" dirty="0" smtClean="0"/>
              <a:t>可能会遭遇催收公司的骚扰，是一种极不可取的行为。</a:t>
            </a:r>
            <a:endParaRPr lang="zh-CN" altLang="en-US" sz="1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142984"/>
            <a:ext cx="8215370" cy="5429288"/>
          </a:xfrm>
        </p:spPr>
        <p:txBody>
          <a:bodyPr>
            <a:normAutofit fontScale="90000"/>
          </a:bodyPr>
          <a:lstStyle/>
          <a:p>
            <a:pPr algn="l"/>
            <a:r>
              <a:rPr lang="en-US" altLang="zh-CN" sz="1800" b="1" dirty="0" smtClean="0"/>
              <a:t>91</a:t>
            </a:r>
            <a:r>
              <a:rPr lang="zh-CN" altLang="en-US" sz="1800" dirty="0" smtClean="0"/>
              <a:t>、</a:t>
            </a:r>
            <a:r>
              <a:rPr lang="en-US" altLang="zh-CN" sz="1800" dirty="0" smtClean="0"/>
              <a:t> </a:t>
            </a:r>
            <a:r>
              <a:rPr lang="zh-CN" altLang="en-US" sz="1800" b="1" dirty="0" smtClean="0"/>
              <a:t>网</a:t>
            </a:r>
            <a:r>
              <a:rPr lang="zh-CN" altLang="en-US" sz="1800" b="1" dirty="0" smtClean="0"/>
              <a:t>贷刚刚逾期就说要起诉我，真的吗？</a:t>
            </a:r>
            <a:br>
              <a:rPr lang="zh-CN" altLang="en-US" sz="1800" b="1" dirty="0" smtClean="0"/>
            </a:br>
            <a:r>
              <a:rPr lang="zh-CN" altLang="en-US" sz="1800" b="1" dirty="0" smtClean="0"/>
              <a:t>         </a:t>
            </a:r>
            <a:r>
              <a:rPr lang="zh-CN" altLang="en-US" sz="1400" dirty="0" smtClean="0"/>
              <a:t>一般而言</a:t>
            </a:r>
            <a:r>
              <a:rPr lang="zh-CN" altLang="en-US" sz="1400" dirty="0" smtClean="0"/>
              <a:t>，网络贷款平台不会起诉，因为网络贷款平台的借款人比较</a:t>
            </a:r>
            <a:r>
              <a:rPr lang="zh-CN" altLang="en-US" sz="1400" dirty="0" smtClean="0"/>
              <a:t>分散</a:t>
            </a:r>
            <a:r>
              <a:rPr lang="zh-CN" altLang="en-US" sz="1400" dirty="0" smtClean="0"/>
              <a:t>，所以平台起诉的成本较高，另外部分网络贷款平台本身就有一定的</a:t>
            </a:r>
            <a:r>
              <a:rPr lang="zh-CN" altLang="en-US" sz="1400" dirty="0" smtClean="0"/>
              <a:t>违法</a:t>
            </a:r>
            <a:r>
              <a:rPr lang="zh-CN" altLang="en-US" sz="1400" dirty="0" smtClean="0"/>
              <a:t>违规行为，比如超过了国家法定利息，违规的催收行为，公司内部</a:t>
            </a:r>
            <a:r>
              <a:rPr lang="zh-CN" altLang="en-US" sz="1400" dirty="0" smtClean="0"/>
              <a:t>违法行为</a:t>
            </a:r>
            <a:r>
              <a:rPr lang="zh-CN" altLang="en-US" sz="1400" dirty="0" smtClean="0"/>
              <a:t>。 </a:t>
            </a:r>
            <a:r>
              <a:rPr lang="en-US" altLang="zh-CN" sz="1400" dirty="0" smtClean="0"/>
              <a:t/>
            </a:r>
            <a:br>
              <a:rPr lang="en-US" altLang="zh-CN" sz="1400" dirty="0" smtClean="0"/>
            </a:br>
            <a:r>
              <a:rPr lang="en-US" altLang="zh-CN" sz="1800" b="1" dirty="0" smtClean="0"/>
              <a:t/>
            </a:r>
            <a:br>
              <a:rPr lang="en-US" altLang="zh-CN" sz="1800" b="1" dirty="0" smtClean="0"/>
            </a:br>
            <a:r>
              <a:rPr lang="en-US" altLang="zh-CN" sz="1800" b="1" dirty="0" smtClean="0"/>
              <a:t>92</a:t>
            </a:r>
            <a:r>
              <a:rPr lang="zh-CN" altLang="en-US" sz="1800" b="1" dirty="0" smtClean="0"/>
              <a:t>、信用卡</a:t>
            </a:r>
            <a:r>
              <a:rPr lang="zh-CN" altLang="en-US" sz="1800" b="1" dirty="0" smtClean="0"/>
              <a:t>刚还就降额怎么办</a:t>
            </a:r>
            <a:r>
              <a:rPr lang="en-US" altLang="zh-CN" sz="1800" b="1" dirty="0" smtClean="0"/>
              <a:t>?</a:t>
            </a:r>
            <a:r>
              <a:rPr lang="en-US" altLang="zh-CN" sz="1400" dirty="0" smtClean="0"/>
              <a:t/>
            </a:r>
            <a:br>
              <a:rPr lang="en-US" altLang="zh-CN" sz="1400" dirty="0" smtClean="0"/>
            </a:br>
            <a:r>
              <a:rPr lang="en-US" altLang="zh-CN" sz="1400" dirty="0" smtClean="0"/>
              <a:t>         </a:t>
            </a:r>
            <a:r>
              <a:rPr lang="zh-CN" altLang="en-US" sz="1400" dirty="0" smtClean="0"/>
              <a:t>信用卡还完被降额了，很大程度上是因为你目前的负债率比较高，或者说你使用了相应的违规的套现软件，被银行风控或者说你使用的相关软件侵犯了银行的信用卡收益。如果你被降额了，而且资金也一下子很难还清</a:t>
            </a:r>
            <a:r>
              <a:rPr lang="zh-CN" altLang="en-US" sz="1400" dirty="0" smtClean="0"/>
              <a:t>，那么</a:t>
            </a:r>
            <a:r>
              <a:rPr lang="zh-CN" altLang="en-US" sz="1400" dirty="0" smtClean="0"/>
              <a:t>这个时候最好的办法是和银行协商分期还款。如果个人具备一定的谈用心、专业、靠谱的债事服务</a:t>
            </a:r>
            <a:r>
              <a:rPr lang="zh-CN" altLang="en-US" sz="1400" dirty="0" smtClean="0"/>
              <a:t>平台</a:t>
            </a:r>
            <a:r>
              <a:rPr lang="zh-CN" altLang="en-US" sz="1400" dirty="0" smtClean="0"/>
              <a:t>判能力，并且逾期以后银行有相应的违规行为，自己可以和银行沟通，</a:t>
            </a:r>
            <a:r>
              <a:rPr lang="zh-CN" altLang="en-US" sz="1400" dirty="0" smtClean="0"/>
              <a:t>如果</a:t>
            </a:r>
            <a:r>
              <a:rPr lang="zh-CN" altLang="en-US" sz="1400" dirty="0" smtClean="0"/>
              <a:t>不行那么可以找我们</a:t>
            </a:r>
            <a:r>
              <a:rPr lang="zh-CN" altLang="en-US" sz="1400" dirty="0" smtClean="0"/>
              <a:t>。</a:t>
            </a:r>
            <a:r>
              <a:rPr lang="en-US" altLang="zh-CN" sz="1400" dirty="0" smtClean="0"/>
              <a:t/>
            </a:r>
            <a:br>
              <a:rPr lang="en-US" altLang="zh-CN" sz="1400" dirty="0" smtClean="0"/>
            </a:br>
            <a:r>
              <a:rPr lang="en-US" altLang="zh-CN" sz="1400" dirty="0" smtClean="0"/>
              <a:t/>
            </a:r>
            <a:br>
              <a:rPr lang="en-US" altLang="zh-CN" sz="1400" dirty="0" smtClean="0"/>
            </a:br>
            <a:r>
              <a:rPr lang="zh-CN" altLang="en-US" sz="2000" b="1" dirty="0" smtClean="0"/>
              <a:t> </a:t>
            </a:r>
            <a:r>
              <a:rPr lang="en-US" altLang="zh-CN" sz="2000" b="1" dirty="0" smtClean="0"/>
              <a:t>93</a:t>
            </a:r>
            <a:r>
              <a:rPr lang="zh-CN" altLang="en-US" sz="2000" b="1" dirty="0" smtClean="0"/>
              <a:t>、信用卡网贷逾期后，被判决了，我啥都没有，会怎么样？</a:t>
            </a:r>
            <a:r>
              <a:rPr lang="zh-CN" altLang="en-US" sz="1400" dirty="0" smtClean="0"/>
              <a:t/>
            </a:r>
            <a:br>
              <a:rPr lang="zh-CN" altLang="en-US" sz="1400" dirty="0" smtClean="0"/>
            </a:br>
            <a:r>
              <a:rPr lang="zh-CN" altLang="en-US" sz="1400" dirty="0" smtClean="0"/>
              <a:t>         如果</a:t>
            </a:r>
            <a:r>
              <a:rPr lang="zh-CN" altLang="en-US" sz="1400" dirty="0" smtClean="0"/>
              <a:t>被法院强制执行，而你什么资产也没有，法院很有可能冻结你所有</a:t>
            </a:r>
            <a:r>
              <a:rPr lang="zh-CN" altLang="en-US" sz="1400" dirty="0" smtClean="0"/>
              <a:t>的银行</a:t>
            </a:r>
            <a:r>
              <a:rPr lang="zh-CN" altLang="en-US" sz="1400" dirty="0" smtClean="0"/>
              <a:t>卡账户，微信支付宝账户等等。其实如果你是真实的，负债率</a:t>
            </a:r>
            <a:r>
              <a:rPr lang="zh-CN" altLang="en-US" sz="1400" dirty="0" smtClean="0"/>
              <a:t>非常高</a:t>
            </a:r>
            <a:r>
              <a:rPr lang="zh-CN" altLang="en-US" sz="1400" dirty="0" smtClean="0"/>
              <a:t>，而且没有任何</a:t>
            </a:r>
            <a:r>
              <a:rPr lang="zh-CN" altLang="en-US" sz="1400" dirty="0" smtClean="0"/>
              <a:t>资产，</a:t>
            </a:r>
            <a:r>
              <a:rPr lang="zh-CN" altLang="en-US" sz="1400" dirty="0" smtClean="0"/>
              <a:t>那么你可以在前期和银行友好沟通，可以很大</a:t>
            </a:r>
            <a:r>
              <a:rPr lang="zh-CN" altLang="en-US" sz="1400" dirty="0" smtClean="0"/>
              <a:t>程度</a:t>
            </a:r>
            <a:r>
              <a:rPr lang="zh-CN" altLang="en-US" sz="1400" dirty="0" smtClean="0"/>
              <a:t>上避免被起诉，被判决被失信，执行这种事情的发生</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2000" b="1" dirty="0" smtClean="0"/>
              <a:t>94</a:t>
            </a:r>
            <a:r>
              <a:rPr lang="zh-CN" altLang="en-US" sz="2000" b="1" dirty="0" smtClean="0"/>
              <a:t>、信用卡网贷逾期后，我欠债，老婆需要承担连带责任吗？</a:t>
            </a:r>
            <a:r>
              <a:rPr lang="zh-CN" altLang="en-US" sz="1400" dirty="0" smtClean="0"/>
              <a:t/>
            </a:r>
            <a:br>
              <a:rPr lang="zh-CN" altLang="en-US" sz="1400" dirty="0" smtClean="0"/>
            </a:br>
            <a:r>
              <a:rPr lang="zh-CN" altLang="en-US" sz="1400" dirty="0" smtClean="0"/>
              <a:t>         如果</a:t>
            </a:r>
            <a:r>
              <a:rPr lang="zh-CN" altLang="en-US" sz="1400" dirty="0" smtClean="0"/>
              <a:t>是个人和银行之间的欠款，如果你自己能够出具相应的这笔款项，</a:t>
            </a:r>
            <a:r>
              <a:rPr lang="zh-CN" altLang="en-US" sz="1400" dirty="0" smtClean="0"/>
              <a:t>没有用</a:t>
            </a:r>
            <a:r>
              <a:rPr lang="zh-CN" altLang="en-US" sz="1400" dirty="0" smtClean="0"/>
              <a:t>于家庭的夫妻的共同支出的话，并且另外一半也毫不知情的情况下</a:t>
            </a:r>
            <a:r>
              <a:rPr lang="zh-CN" altLang="en-US" sz="1400" dirty="0" smtClean="0"/>
              <a:t>，是</a:t>
            </a:r>
            <a:r>
              <a:rPr lang="zh-CN" altLang="en-US" sz="1400" dirty="0" smtClean="0"/>
              <a:t>没有义务去还这笔款项的，除非另外一半是你的担保人</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2000" b="1" dirty="0" smtClean="0"/>
              <a:t>95</a:t>
            </a:r>
            <a:r>
              <a:rPr lang="zh-CN" altLang="en-US" sz="2000" b="1" dirty="0" smtClean="0"/>
              <a:t>、</a:t>
            </a:r>
            <a:r>
              <a:rPr lang="zh-CN" altLang="en-US" sz="2000" b="1" dirty="0" smtClean="0"/>
              <a:t>信用卡网贷逾期后，换号码失联是不是就可以躲掉债务？</a:t>
            </a:r>
            <a:r>
              <a:rPr lang="zh-CN" altLang="en-US" sz="1400" dirty="0" smtClean="0"/>
              <a:t/>
            </a:r>
            <a:br>
              <a:rPr lang="zh-CN" altLang="en-US" sz="1400" dirty="0" smtClean="0"/>
            </a:br>
            <a:r>
              <a:rPr lang="zh-CN" altLang="en-US" sz="1400" dirty="0" smtClean="0"/>
              <a:t>         如果</a:t>
            </a:r>
            <a:r>
              <a:rPr lang="zh-CN" altLang="en-US" sz="1400" dirty="0" smtClean="0"/>
              <a:t>债务逾期，换号码失联是没有办法逃避你的债务的。还有可能催收</a:t>
            </a:r>
            <a:r>
              <a:rPr lang="zh-CN" altLang="en-US" sz="1400" dirty="0" smtClean="0"/>
              <a:t>的对象</a:t>
            </a:r>
            <a:r>
              <a:rPr lang="zh-CN" altLang="en-US" sz="1400" dirty="0" smtClean="0"/>
              <a:t>会由你改为你的家人或者朋友。这样对于你个人的名誉损失会极大</a:t>
            </a:r>
            <a:r>
              <a:rPr lang="zh-CN" altLang="en-US" sz="1400" dirty="0" smtClean="0"/>
              <a:t>增加</a:t>
            </a:r>
            <a:r>
              <a:rPr lang="zh-CN" altLang="en-US" sz="1400" dirty="0" smtClean="0"/>
              <a:t>，通过友好积极面对的态度，可以最大可能的避免这种事情的发生。</a:t>
            </a:r>
            <a:endParaRPr lang="zh-CN" altLang="en-US" sz="14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1214422"/>
            <a:ext cx="8215370" cy="5214974"/>
          </a:xfrm>
        </p:spPr>
        <p:txBody>
          <a:bodyPr>
            <a:normAutofit fontScale="90000"/>
          </a:bodyPr>
          <a:lstStyle/>
          <a:p>
            <a:pPr algn="l"/>
            <a:r>
              <a:rPr lang="en-US" altLang="zh-CN" sz="2000" b="1" dirty="0" smtClean="0"/>
              <a:t>96</a:t>
            </a:r>
            <a:r>
              <a:rPr lang="zh-CN" altLang="en-US" sz="2000" b="1" dirty="0" smtClean="0"/>
              <a:t>、信用卡</a:t>
            </a:r>
            <a:r>
              <a:rPr lang="zh-CN" altLang="en-US" sz="2000" b="1" dirty="0" smtClean="0"/>
              <a:t>网贷逾期后，我唯一的一套住房要过户吗？如何防止被强制执行？</a:t>
            </a:r>
            <a:r>
              <a:rPr lang="zh-CN" altLang="en-US" sz="1400" dirty="0" smtClean="0"/>
              <a:t/>
            </a:r>
            <a:br>
              <a:rPr lang="zh-CN" altLang="en-US" sz="1400" dirty="0" smtClean="0"/>
            </a:br>
            <a:r>
              <a:rPr lang="zh-CN" altLang="en-US" sz="1400" dirty="0" smtClean="0"/>
              <a:t>         对于只拥有一套住房，信用卡或者说网络贷款逾期的这种情况，我们建议尽可能的避免被起诉。那么怎么样避免被起诉呢？友好的和债权方沟通，不逃避说清楚自己的实际情况，负债情况和收入情况。如果是重大疾病等特殊状况导致的负债，需要提前和债权方沟通，并且准备好相应的证明材料。大家记住越是逃避，可能对自己越为不利</a:t>
            </a:r>
            <a:r>
              <a:rPr lang="zh-CN" altLang="en-US" sz="1400" dirty="0" smtClean="0"/>
              <a:t>。</a:t>
            </a:r>
            <a:r>
              <a:rPr lang="en-US" altLang="zh-CN" sz="1400" dirty="0" smtClean="0"/>
              <a:t/>
            </a:r>
            <a:br>
              <a:rPr lang="en-US" altLang="zh-CN" sz="1400" dirty="0" smtClean="0"/>
            </a:br>
            <a:r>
              <a:rPr lang="en-US" altLang="zh-CN" sz="1400" dirty="0" smtClean="0"/>
              <a:t/>
            </a:r>
            <a:br>
              <a:rPr lang="en-US" altLang="zh-CN" sz="1400" dirty="0" smtClean="0"/>
            </a:br>
            <a:r>
              <a:rPr lang="en-US" altLang="zh-CN" sz="2000" b="1" dirty="0" smtClean="0"/>
              <a:t> 97</a:t>
            </a:r>
            <a:r>
              <a:rPr lang="zh-CN" altLang="en-US" sz="2000" b="1" dirty="0" smtClean="0"/>
              <a:t>、信用卡网贷逾期后，负债累累，怎么样才能迅速上岸</a:t>
            </a:r>
            <a:r>
              <a:rPr lang="en-US" altLang="zh-CN" sz="2000" b="1" dirty="0" smtClean="0"/>
              <a:t>?</a:t>
            </a:r>
            <a:r>
              <a:rPr lang="en-US" altLang="zh-CN" sz="1400" dirty="0" smtClean="0"/>
              <a:t/>
            </a:r>
            <a:br>
              <a:rPr lang="en-US" altLang="zh-CN" sz="1400" dirty="0" smtClean="0"/>
            </a:br>
            <a:r>
              <a:rPr lang="en-US" altLang="zh-CN" sz="1400" dirty="0" smtClean="0"/>
              <a:t>        </a:t>
            </a:r>
            <a:r>
              <a:rPr lang="zh-CN" altLang="en-US" sz="1400" dirty="0" smtClean="0"/>
              <a:t>负债累累</a:t>
            </a:r>
            <a:r>
              <a:rPr lang="zh-CN" altLang="en-US" sz="1400" dirty="0" smtClean="0"/>
              <a:t>迅速上岸，一夜暴富是不可能的，所以面对债务逾期，</a:t>
            </a:r>
            <a:r>
              <a:rPr lang="zh-CN" altLang="en-US" sz="1400" dirty="0" smtClean="0"/>
              <a:t>脚踏实地树立</a:t>
            </a:r>
            <a:r>
              <a:rPr lang="zh-CN" altLang="en-US" sz="1400" dirty="0" smtClean="0"/>
              <a:t>好平和良好的心态去面对，同时梳理好自己的负债详细情况，不断</a:t>
            </a:r>
            <a:r>
              <a:rPr lang="zh-CN" altLang="en-US" sz="1400" dirty="0" smtClean="0"/>
              <a:t>地去</a:t>
            </a:r>
            <a:r>
              <a:rPr lang="zh-CN" altLang="en-US" sz="1400" dirty="0" smtClean="0"/>
              <a:t>提升自己的能力，从而提升自己的收入水平，一步一步脚踏实地才是</a:t>
            </a:r>
            <a:r>
              <a:rPr lang="zh-CN" altLang="en-US" sz="1400" dirty="0" smtClean="0"/>
              <a:t>上岸</a:t>
            </a:r>
            <a:r>
              <a:rPr lang="zh-CN" altLang="en-US" sz="1400" dirty="0" smtClean="0"/>
              <a:t>的不二途径</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2000" b="1" dirty="0" smtClean="0"/>
              <a:t>98</a:t>
            </a:r>
            <a:r>
              <a:rPr lang="zh-CN" altLang="en-US" sz="2000" b="1" dirty="0" smtClean="0"/>
              <a:t>、市面的社交电商，迅速上岸的模式，阿飞你怎么看</a:t>
            </a:r>
            <a:r>
              <a:rPr lang="en-US" altLang="zh-CN" sz="2000" b="1" dirty="0" smtClean="0"/>
              <a:t>?</a:t>
            </a:r>
            <a:r>
              <a:rPr lang="en-US" altLang="zh-CN" sz="1400" dirty="0" smtClean="0"/>
              <a:t/>
            </a:r>
            <a:br>
              <a:rPr lang="en-US" altLang="zh-CN" sz="1400" dirty="0" smtClean="0"/>
            </a:br>
            <a:r>
              <a:rPr lang="en-US" altLang="zh-CN" sz="1400" dirty="0" smtClean="0"/>
              <a:t>         </a:t>
            </a:r>
            <a:r>
              <a:rPr lang="zh-CN" altLang="en-US" sz="1400" dirty="0" smtClean="0"/>
              <a:t>其实</a:t>
            </a:r>
            <a:r>
              <a:rPr lang="zh-CN" altLang="en-US" sz="1400" dirty="0" smtClean="0"/>
              <a:t>我们很多人负债逾期很大程度上是因为自己对一些项目的判断不足</a:t>
            </a:r>
            <a:r>
              <a:rPr lang="zh-CN" altLang="en-US" sz="1400" dirty="0" smtClean="0"/>
              <a:t>，那么</a:t>
            </a:r>
            <a:r>
              <a:rPr lang="zh-CN" altLang="en-US" sz="1400" dirty="0" smtClean="0"/>
              <a:t>你负债逾期以后更加要注意去判断一些项目的可行性，我们目前有</a:t>
            </a:r>
            <a:r>
              <a:rPr lang="zh-CN" altLang="en-US" sz="1400" dirty="0" smtClean="0"/>
              <a:t>很多</a:t>
            </a:r>
            <a:r>
              <a:rPr lang="zh-CN" altLang="en-US" sz="1400" dirty="0" smtClean="0"/>
              <a:t>社交电商的模式也好，其他的模式也好，你千万要记住不管做什么样</a:t>
            </a:r>
            <a:r>
              <a:rPr lang="zh-CN" altLang="en-US" sz="1400" dirty="0" smtClean="0"/>
              <a:t>的项目</a:t>
            </a:r>
            <a:r>
              <a:rPr lang="zh-CN" altLang="en-US" sz="1400" dirty="0" smtClean="0"/>
              <a:t>你的销售能力，你团队搭建的能力，你个人的影响力，项目本身的</a:t>
            </a:r>
            <a:r>
              <a:rPr lang="zh-CN" altLang="en-US" sz="1400" dirty="0" smtClean="0"/>
              <a:t>竞争力</a:t>
            </a:r>
            <a:r>
              <a:rPr lang="zh-CN" altLang="en-US" sz="1400" dirty="0" smtClean="0"/>
              <a:t>决定了这个项目能不能够提升你的收入，千万不要相信那些让你一</a:t>
            </a:r>
            <a:r>
              <a:rPr lang="zh-CN" altLang="en-US" sz="1400" dirty="0" smtClean="0"/>
              <a:t>夜暴富</a:t>
            </a:r>
            <a:r>
              <a:rPr lang="zh-CN" altLang="en-US" sz="1400" dirty="0" smtClean="0"/>
              <a:t>的项目，否则只会让自己越陷越深</a:t>
            </a:r>
            <a:r>
              <a:rPr lang="zh-CN" altLang="en-US" sz="1400" dirty="0" smtClean="0"/>
              <a:t>。</a:t>
            </a:r>
            <a:r>
              <a:rPr lang="en-US" altLang="zh-CN" sz="1400" dirty="0" smtClean="0"/>
              <a:t/>
            </a:r>
            <a:br>
              <a:rPr lang="en-US" altLang="zh-CN" sz="1400" dirty="0" smtClean="0"/>
            </a:br>
            <a:r>
              <a:rPr lang="zh-CN" altLang="en-US" sz="1400" dirty="0" smtClean="0"/>
              <a:t/>
            </a:r>
            <a:br>
              <a:rPr lang="zh-CN" altLang="en-US" sz="1400" dirty="0" smtClean="0"/>
            </a:br>
            <a:r>
              <a:rPr lang="en-US" altLang="zh-CN" sz="2000" b="1" dirty="0" smtClean="0"/>
              <a:t>99</a:t>
            </a:r>
            <a:r>
              <a:rPr lang="zh-CN" altLang="en-US" sz="2000" b="1" dirty="0" smtClean="0"/>
              <a:t>、信用卡网贷逾期后，负债人，最迅速的上岸思路是什么？</a:t>
            </a:r>
            <a:r>
              <a:rPr lang="zh-CN" altLang="en-US" sz="1400" dirty="0" smtClean="0"/>
              <a:t/>
            </a:r>
            <a:br>
              <a:rPr lang="zh-CN" altLang="en-US" sz="1400" dirty="0" smtClean="0"/>
            </a:br>
            <a:r>
              <a:rPr lang="zh-CN" altLang="en-US" sz="1400" dirty="0" smtClean="0"/>
              <a:t>         很多人</a:t>
            </a:r>
            <a:r>
              <a:rPr lang="zh-CN" altLang="en-US" sz="1400" dirty="0" smtClean="0"/>
              <a:t>负债比较高，通过一般的上班可能很难还完，这个时候你只能</a:t>
            </a:r>
            <a:r>
              <a:rPr lang="zh-CN" altLang="en-US" sz="1400" dirty="0" smtClean="0"/>
              <a:t>通过做生意</a:t>
            </a:r>
            <a:r>
              <a:rPr lang="zh-CN" altLang="en-US" sz="1400" dirty="0" smtClean="0"/>
              <a:t>做买卖做销售的方式来翻身，但是你项目本身的竞争力，你获得</a:t>
            </a:r>
            <a:r>
              <a:rPr lang="zh-CN" altLang="en-US" sz="1400" dirty="0" smtClean="0"/>
              <a:t>客户</a:t>
            </a:r>
            <a:r>
              <a:rPr lang="zh-CN" altLang="en-US" sz="1400" dirty="0" smtClean="0"/>
              <a:t>的成本，获得客户的能力，你成交的能力是你千万要注意的，自媒体</a:t>
            </a:r>
            <a:r>
              <a:rPr lang="zh-CN" altLang="en-US" sz="1400" dirty="0" smtClean="0"/>
              <a:t>其实</a:t>
            </a:r>
            <a:r>
              <a:rPr lang="zh-CN" altLang="en-US" sz="1400" dirty="0" smtClean="0"/>
              <a:t>是一个很好的获得客户的工具，不能说自媒体能够让你一夜翻身，</a:t>
            </a:r>
            <a:r>
              <a:rPr lang="zh-CN" altLang="en-US" sz="1400" dirty="0" smtClean="0"/>
              <a:t>但是他们</a:t>
            </a:r>
            <a:r>
              <a:rPr lang="zh-CN" altLang="en-US" sz="1400" dirty="0" smtClean="0"/>
              <a:t>给我大大提升你的翻身速度，你需要的是独立判断，不断学习，</a:t>
            </a:r>
            <a:r>
              <a:rPr lang="zh-CN" altLang="en-US" sz="1400" dirty="0" smtClean="0"/>
              <a:t>不断坚持</a:t>
            </a:r>
            <a:r>
              <a:rPr lang="zh-CN" altLang="en-US" sz="1400" dirty="0" smtClean="0"/>
              <a:t>优化调整。</a:t>
            </a:r>
            <a:endParaRPr lang="zh-CN" altLang="en-US" sz="1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jpg"/>
          <p:cNvPicPr>
            <a:picLocks noChangeAspect="1"/>
          </p:cNvPicPr>
          <p:nvPr/>
        </p:nvPicPr>
        <p:blipFill>
          <a:blip r:embed="rId2"/>
          <a:stretch>
            <a:fillRect/>
          </a:stretch>
        </p:blipFill>
        <p:spPr>
          <a:xfrm>
            <a:off x="0" y="0"/>
            <a:ext cx="9144000" cy="6929461"/>
          </a:xfrm>
          <a:prstGeom prst="rect">
            <a:avLst/>
          </a:prstGeom>
        </p:spPr>
      </p:pic>
      <p:sp>
        <p:nvSpPr>
          <p:cNvPr id="8" name="波形 7"/>
          <p:cNvSpPr/>
          <p:nvPr/>
        </p:nvSpPr>
        <p:spPr>
          <a:xfrm>
            <a:off x="-32" y="-24"/>
            <a:ext cx="9144032" cy="1285884"/>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矩形 8"/>
          <p:cNvSpPr/>
          <p:nvPr/>
        </p:nvSpPr>
        <p:spPr>
          <a:xfrm>
            <a:off x="-428660" y="128451"/>
            <a:ext cx="5072098" cy="80021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债务问题</a:t>
            </a:r>
            <a:r>
              <a:rPr lang="en-US" altLang="zh-CN"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100</a:t>
            </a:r>
            <a:r>
              <a:rPr lang="zh-CN" altLang="en-US" sz="4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答</a:t>
            </a:r>
            <a:endParaRPr lang="zh-CN" altLang="en-US" sz="4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标题 1"/>
          <p:cNvSpPr>
            <a:spLocks noGrp="1"/>
          </p:cNvSpPr>
          <p:nvPr>
            <p:ph type="ctrTitle"/>
          </p:nvPr>
        </p:nvSpPr>
        <p:spPr>
          <a:xfrm>
            <a:off x="500034" y="857232"/>
            <a:ext cx="8215370" cy="5000660"/>
          </a:xfrm>
        </p:spPr>
        <p:txBody>
          <a:bodyPr>
            <a:normAutofit/>
          </a:bodyPr>
          <a:lstStyle/>
          <a:p>
            <a:pPr algn="l">
              <a:lnSpc>
                <a:spcPts val="2200"/>
              </a:lnSpc>
            </a:pPr>
            <a:r>
              <a:rPr lang="en-US" altLang="zh-CN" sz="1800" b="1" dirty="0" smtClean="0"/>
              <a:t>100</a:t>
            </a:r>
            <a:r>
              <a:rPr lang="zh-CN" altLang="en-US" sz="1800" b="1" dirty="0" smtClean="0"/>
              <a:t>、给</a:t>
            </a:r>
            <a:r>
              <a:rPr lang="zh-CN" altLang="en-US" sz="1800" b="1" dirty="0" smtClean="0"/>
              <a:t>债务人忠告有哪些？ </a:t>
            </a:r>
            <a:r>
              <a:rPr lang="en-US" altLang="zh-CN" sz="1800" b="1" dirty="0" smtClean="0"/>
              <a:t/>
            </a:r>
            <a:br>
              <a:rPr lang="en-US" altLang="zh-CN" sz="1800" b="1" dirty="0" smtClean="0"/>
            </a:br>
            <a:r>
              <a:rPr lang="en-US" altLang="zh-CN" sz="1400" dirty="0" smtClean="0"/>
              <a:t/>
            </a:r>
            <a:br>
              <a:rPr lang="en-US" altLang="zh-CN" sz="1400" dirty="0" smtClean="0"/>
            </a:br>
            <a:r>
              <a:rPr lang="en-US" altLang="zh-CN" sz="1400" dirty="0" smtClean="0"/>
              <a:t/>
            </a:r>
            <a:br>
              <a:rPr lang="en-US" altLang="zh-CN" sz="1400" dirty="0" smtClean="0"/>
            </a:br>
            <a:r>
              <a:rPr lang="en-US" altLang="zh-CN" sz="1400" dirty="0" smtClean="0"/>
              <a:t/>
            </a:r>
            <a:br>
              <a:rPr lang="en-US" altLang="zh-CN" sz="1400" dirty="0" smtClean="0"/>
            </a:br>
            <a:r>
              <a:rPr lang="en-US" altLang="zh-CN" sz="1400" dirty="0" smtClean="0"/>
              <a:t/>
            </a:r>
            <a:br>
              <a:rPr lang="en-US" altLang="zh-CN" sz="1400" dirty="0" smtClean="0"/>
            </a:br>
            <a:r>
              <a:rPr lang="en-US" altLang="zh-CN" sz="1400" dirty="0" smtClean="0"/>
              <a:t/>
            </a:r>
            <a:br>
              <a:rPr lang="en-US" altLang="zh-CN" sz="1400" dirty="0" smtClean="0"/>
            </a:br>
            <a:r>
              <a:rPr lang="en-US" altLang="zh-CN" sz="1400" dirty="0" smtClean="0"/>
              <a:t/>
            </a:r>
            <a:br>
              <a:rPr lang="en-US" altLang="zh-CN" sz="1400" dirty="0" smtClean="0"/>
            </a:br>
            <a:r>
              <a:rPr lang="en-US" altLang="zh-CN" sz="1400" dirty="0" smtClean="0"/>
              <a:t/>
            </a:r>
            <a:br>
              <a:rPr lang="en-US" altLang="zh-CN" sz="1400" dirty="0" smtClean="0"/>
            </a:br>
            <a:r>
              <a:rPr lang="en-US" altLang="zh-CN" sz="1400" dirty="0" smtClean="0"/>
              <a:t/>
            </a:r>
            <a:br>
              <a:rPr lang="en-US" altLang="zh-CN" sz="1400" dirty="0" smtClean="0"/>
            </a:br>
            <a:r>
              <a:rPr lang="en-US" altLang="zh-CN" sz="1400" dirty="0" smtClean="0"/>
              <a:t/>
            </a:r>
            <a:br>
              <a:rPr lang="en-US" altLang="zh-CN" sz="1400" dirty="0" smtClean="0"/>
            </a:br>
            <a:r>
              <a:rPr lang="en-US" altLang="zh-CN" sz="1400" dirty="0" smtClean="0"/>
              <a:t/>
            </a:r>
            <a:br>
              <a:rPr lang="en-US" altLang="zh-CN" sz="1400" dirty="0" smtClean="0"/>
            </a:br>
            <a:r>
              <a:rPr lang="en-US" altLang="zh-CN" sz="1400" dirty="0" smtClean="0"/>
              <a:t/>
            </a:r>
            <a:br>
              <a:rPr lang="en-US" altLang="zh-CN" sz="1400" dirty="0" smtClean="0"/>
            </a:br>
            <a:r>
              <a:rPr lang="en-US" altLang="zh-CN" sz="1400" dirty="0" smtClean="0"/>
              <a:t/>
            </a:r>
            <a:br>
              <a:rPr lang="en-US" altLang="zh-CN" sz="1400" dirty="0" smtClean="0"/>
            </a:br>
            <a:endParaRPr lang="zh-CN" altLang="en-US" sz="1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TotalTime>
  <Words>669</Words>
  <Application>Microsoft Office PowerPoint</Application>
  <PresentationFormat>全屏显示(4:3)</PresentationFormat>
  <Paragraphs>50</Paragraphs>
  <Slides>23</Slides>
  <Notes>0</Notes>
  <HiddenSlides>0</HiddenSlides>
  <MMClips>0</MMClips>
  <ScaleCrop>false</ScaleCrop>
  <HeadingPairs>
    <vt:vector size="4" baseType="variant">
      <vt:variant>
        <vt:lpstr>主题</vt:lpstr>
      </vt:variant>
      <vt:variant>
        <vt:i4>1</vt:i4>
      </vt:variant>
      <vt:variant>
        <vt:lpstr>幻灯片标题</vt:lpstr>
      </vt:variant>
      <vt:variant>
        <vt:i4>23</vt:i4>
      </vt:variant>
    </vt:vector>
  </HeadingPairs>
  <TitlesOfParts>
    <vt:vector size="24" baseType="lpstr">
      <vt:lpstr>Office 主题</vt:lpstr>
      <vt:lpstr>幻灯片 1</vt:lpstr>
      <vt:lpstr>1 、债务的类型         债务分两类，一类是良性负债，另一类是恶性负债，我们主要服务的群体是逾期群体，大家常见的房贷、车贷、包括企业债，如果收入及资产是可以覆盖的负债，我们暂时不讨论。 我们讨论的是恶性负债，就是收入已经很难支撑的负债、企业的资产和营收已经很难维持的负债类型。由于企业类型负债也比较复杂，因此平台的侧重点还是个人负债。         个人负债形成的原因很多，我们从20000 多逾期群体的负债类型来看，有几大类：过度消费、家庭开支过大、家庭变故、生意失败、投资失败、赌博类负债。         过度消费群体，主要90、95、00 后居多，新一代的消费观念已经开始和欧美接轨，不求每天如何，活在当下最重要，所以，没有节制的消费行为和收入水平不高的矛盾，导致了许多年轻人超前消费，导致了逾期，比如信用卡、网贷、高炮、校园贷、消费分期等，其中以贷养贷、违规的网贷高利贷平台是这个群体逾期的重要原因，我们举例：10 个网贷平台总额30万，按照合规的利息24%来计算，一年的利息接近10 万，其中大部分的网贷平台的利息达到36%-90%，加上砍头息，高炮等因素，有些平台综合利率超过200%，甚至到达1000%，这里还有一个重要原因，互联网金融发展早期，监管的滞后性，导致太多平台违规，综上所述，这个群体很难还清自己的债务，逾期更是不可避免。          家庭开支原因及特殊变故，比如疾病、失业导致的逾期，也有不少的比例，中国目前的家庭负债率呈逐年上升趋势，导致了突发状况容易导致债务逾期。          生意失败导致的债务逾期比例较高，大环境的经济形势、企业的转型压力、实体经济的不景气导致了生意和创业群体的逾期规模比例较大，再加上国家层面的大众创业，因为创业本身具备很大的风险。         </vt:lpstr>
      <vt:lpstr>。</vt:lpstr>
      <vt:lpstr>。</vt:lpstr>
      <vt:lpstr>5、信用卡网贷逾期后，对目前收入资产的正确评估         债务不是一下子就产生的，很多人经历过的都是以贷养贷，最后负债累累的结局，那么还债也不是一下子就能还完的，在第4 步的基础之上，我们根据债务梳理过后的金额，然后结合自己的债务情况，制定一定的还款计划，做到不还冤枉钱，每一笔还的钱都是可以切实减少你的本金的，而不是违约金利息抵充，将债务变成一个永远还不完的无底洞。        关于个人资产这一步，一般而言，如果确实不是有钱不还，故意隐藏资产，加上坦诚如实的沟通，而且能够保留违规催收的证据，那么你被起诉的概率会大大降低，也不会出现执行资产的情况，但是，如果有资产故意隐藏，甚至转移资产，那么最后可能带来的后果是聪明反被聪明误。  6、信用卡网贷逾期后，债务还款的优先级         一般而言，按照合规性和迫切度来制定还款计划，作为朋友而言，这个取决于朋友之前借钱的约定以及逾期后的朋友经济状况，但是，作为债务人，应该坦诚积极的和出借人沟通协商，对于高利贷的民间借贷，如果违法违规的利息，那么可以让对方走法律程序，如果存在违法催债行为，可以报警。另外作为金融机构的欠款，需要根据合规性及目前的收入水平和平台机构协商，另外，如果有违规证据，甚至可以让对方做出部分赔偿或者减免还款的方案。总结下来，先还合规的钱，比如信用卡及信用贷款，违规的平台，你需要做的就是搜集违规的证据。  7、信用卡网贷逾期后，如何根据债务情况制定合理的还款方式         很多人不知道欠了那么多钱，怎么去还？其实是大家忽略了，上面提到的一点非常重要，那就是你需要把自己的债务情况详细的梳理出来，是欠个人的还是欠银行的？还是欠网络贷款平台的等等，能够协商的优先还可以协商的平台。不可以协商的，那么就先及时止损，不要再偿还无谓的利息和违约金。就比如说信用卡，在你刚刚逾期一到三个月之内，你还款如果没有办法还足全额或者说最低还款。那么你还的钱是抵充违约金和利息的，你的本金并没有减少。</vt:lpstr>
      <vt:lpstr>8、信用卡网贷逾期后，如何和债权方沟通？          首先你要本着欠债还钱的这个态度很重要，同时对于平台方违法违规的相关证据掌握充足，对平台方相关息费的算法做到心中有数，真实表达，目前自己的收入情况和负债情况，并主动提出自己的还款方案。  9、网贷债务的注意点          网络贷款首先考虑的是他们的合法合规性的问题，这里面包括他们的息费的算法、合同的条款、催收的方式方法，任何一个违法违规的行为都可以向相关部门举报。  10、信用卡债务的注意点          信用卡逾期你认为的本金并不是银行真正的本金，你可能有多笔分期，你逾期以后还的款项并不一定是真正冲抵本金，信用卡里边的逾期费利息算法还有手续费算法，所以很多人会有越还越多的感觉。  11、我属于信用卡诈骗吗？如何驳回？         信用卡诈骗要满足几个前提，分别是虚假信息、伪造信用卡、使用作废的信用卡诈骗、冒充他人使用信用卡诈骗、恶意透支等。目前所有的指控持卡人恶意透支的材料，作为持卡人，完全可以通过积极联系银行主动交代自己的负债情况和收入情况，主动表达自己的还款意愿去避免此类指控。  12、我属于信用卡恶意透支吗？          恶意透支指非法占有为目的，超过规定限额或者规定期限透支，并且经过发卡银行两次催收后超过三个月仍不归还的行为。其中以非法占有为目的的情形，包括明知没有还款能力而大量透支无法归还的肆意挥霍透支的资金，透支后逃匿改变联系方式，逃避银行催收的出逃转移资金，隐匿财产用逃避还款的，使用透支的资金进行违法犯罪活动的以及其他非法占有资金拒不归还的行为。驳回的方式：主动联系银行坦承自己的负债情况和收入情况，拿出自己的还款方案和积极面对的态度。</vt:lpstr>
      <vt:lpstr>13、信用卡透支该如何处理？        主动联系银行坦承自己的负债情况和收入情况，拿出自己的还款方案和积极面对的态度。   14、没有逾期，接近逾期你要注意什么？         没有逾期，接近逾期你需要提前主动和金融机构联系，说明自己的实际负债情况以及收入情况，并且询问对方接下来的催收流程是否合法合规，同时保留好相关的录音和证据。如果后期发生催收违规的方式和行为的话，那么及时向金融机构方投诉。如果对方不予受理，那么向相关部门反馈。  15、没有逾期的沟通方式          首先是积极的态度，告知平台方自己的负债情况，明确自己的收入情况以及家庭开支情况。积极争取同平台方达成新的还款方案，虽然对方不会同意，但是你只要提出这样的诉求即可，以免后期平台方控告持卡人，或者说借款人恶意透支和非法占有恶意逃避等。  16、信用卡网贷逾期后，面对催收，你应该怎么办？         不需要吵架，告知实际情况，告知自己的法律意识，告知对方自己的接听电话时间，询问对方是否有债务分期的权限。  17、信用卡网贷逾期后，为什么催收越来越猛？         每个金融机构都有它们的贷后管理流程，从一个月内到三个月到六个月到一年有不同的处理方式，前期是电话催收，友情提醒后面是语言态度越来越强硬，在后面是律师函、报案函、起诉书等。不排除长期的逾期会导致你的债权转让给第三方，第三方的催收公司质量层参差不齐，会有一些在灰色地带的催收行为。  18、信用卡网贷逾期后，收到律师函怎么回事？          律师函其实和法院的传票并不相同，每个人都可以委托一家律师事务所向某个人发送律师函的权利。当然存在一些虚假律师函的问题。不过发律师函是合法合规的，当然也不用害怕，正式的起诉以传票为主。</vt:lpstr>
      <vt:lpstr>19、信用卡网贷逾期后，收到报案函怎么回事？          报案函其实是银行的行使债权的权利的方式，我们每一个公民都可以有选择报案权利，但是报警和警察立案是两码事。一般而言，如果你并不是信用卡诈骗，那么就无需害怕，不过一定要积极正确的面对。  20、信用卡网贷逾期后，我真的被起诉了吗？          真正的起诉是以法院的传票为准，同时你也可以通过法院的官方电话或者到裁判文书网查询自己是否被起诉以及是否被判决。  21、信用卡网贷逾期后，我只有一套房，会被执行吗？           一般而言，如果你只有一套住房，而且你面对债务的态度是积极的，坦诚的，并且努力在赚钱，那么一般而言不会执行你的房产。但是对于有部分恶意逃避债务的人，那么房产被法院起诉执行的概率会大大提升。要区分是个人之间的债务还是个人与金融机构之间的债务。  22、信用卡网贷逾期后，公安机关让我过去，我要去吗？          银行选择报案，如果公安机关或者说相关部门让你过去，其实过去是没有任何问题的，但是你需要具备一定的法律知识，就是目前自己的欠款行为构不构成信用卡诈骗或者说其他的刑事犯罪问题。如果一个人行的正完全没有必要害怕，比如说做生意失败不用害怕自己被抓被坐牢，因为这是一个很正常的现象。  23、信用卡网贷逾期后，催收哪些行为是违规的？         威胁辱骂恐吓，虚假的法院传票，虚假的公安逮捕令，诱导借款人以贷养贷，骚扰非借款人以外的其他第三方，均属于催收违规行为。</vt:lpstr>
      <vt:lpstr>24、信用卡网贷逾期后，人死了，钱还要还吗?         人死了，但是债务债权关系一直存在，借款人的财产继承人有还款的义务。  25、信用卡网贷逾期后，催收多久才会停止?         一般而言，如果你的债权存在，那么催收不会停止，除非他们不要这笔钱了。但是如果转让第三方，新债权方进入，那么催收还会继续催收。  26、催收为什么会知道我的那么多信息?         目前这个时代是大数据时代，一般想要获取你的任何信息，只要债权方想要获得，那么问题都不大。你的手机里面的每个APP 都可以获取你的信息，债权方会有第三方的大数据合作公司，所以逃避是不可能的。  27、信用卡逾期后的利息计算方式？         信用卡逾期后利息和违约金的计算方式比较复杂，10 万块钱一个月的违约金和利息可能大概需要7000 块钱以上，所以信用卡逾期以后及时止损是非常重要的。  28、信用卡逾期利息计算方式合法吗?         目前信用卡逾期以后的利息违约金计算方法是合法合规的，但是在持卡人被起诉的过程当中，法院并不支持这么高的利息违约金的算法，所以很多人被判决以后真正的还款金额比账单的金额要少不少，法律规定的年化24%的合法利息是一般计算在内的。  29、714 （高利贷）要不要还?         在我们看来，欠债还钱天经地义，但是只还合法合规的钱，就算有一些高利贷的钱本身也是需要还的，不过一定要是合法合规的还，同时对方如果有违法违规的行为，应当追究对方的责任。</vt:lpstr>
      <vt:lpstr>30、信用卡网贷逾期后，上征信是不是就是黑户了？          很多人对征信的理解有错误。征信的核心是大数据供给第三方参考，是否要跟你发生合作关系，我们拿借贷而言就是借贷关系，作为信用卡或者网络贷款逾期的客户，你们要关心的首要问题是，是否和银行及金融机构发生了借贷往来，至于会不会限制高消费限制出行影响子女上学，这个取决于法院是否判决你已经成为失信执行人，如果你没有被正式起诉和正式判决，一般不会有这些影响。  31、信用卡属于国有资产吗？         作为信用卡发卡银行而言，本身就是盈利机构，并不是有些催收所说的侵占国有资产，银行的信用卡业务是一个高风险的业务，就不可避免的会出现逾期的情况，那么唯一的不同就是国家对于信用卡的监管是比较严格的。  32、信用卡逾期到底要不要坐牢？         如果你不构成信用卡诈骗，一般不会坐牢，从我们目前服务的信用卡逾期群体来看，坐牢的概率几乎为零。  33、负债累累，我还要去借钱吗？         大家要知道你逾期以后借款的成本会非常高，如果是银行或者说其他的借贷平台，甚至有些高利贷平台，那么如果你的收入无法覆盖你目前的借钱的成本，那么尽量不要在借钱还钱。    34、信用卡网贷逾期后，被违规催收，我可以起诉平台吗?         一般而言，起诉平台需要你具备一定的资金和需要具备专业知识，比如说债务逾期领域的为借款人维权的相关机构，但是目前这一块儿是市场空缺的，再加上借款人本身就不具备这么多资金去找律师，所以这个也是很难起诉的一个重要原因。</vt:lpstr>
      <vt:lpstr>35、信用卡逾期1 年以上了，还要还吗？         不管你信用卡逾期多久，那么这个钱是一定要还的。如果一直不还，那么最终受损害最大的还是你自己。  36、信用卡还不上了，银行为什么不给我再分期还本金？         作为信用卡发卡银行而言，面对逾期的客户，那么他们会通过收取利息违约金的方式来弥补自己的本金损失。同时会通过各种方式来催收回款，因为监管部门对于银行的资产质量是有严格的考核要求的。如果分期还款，那么对于银行资金回收的效率会大大降低。  37、信用卡逾期，律师说要判刑，真的还是假的？         如果不构成信用卡诈骗，那么就不会判刑，其实很多说判刑都是一个给你施压的方式而已。  38、信用卡逾期，让我去派出所，会不会被直接抓起来？         一般而言不会直接抓起来最多是拘留，那么拘留的时间也是有要求的，一般不会超过三天，最迟不超过七天，如果不构成信用卡诈骗，那么必须放人。  39、信用卡逾期，银行委托第三方催收合法吗？         银行把债权委托给第三方催收是合法合规的，但是在推出的过程当中一定要按照法律规范来行使催收流程，否则不合规的行为你是可以和银行的客服举报投诉。    40、信用卡逾期了，被起诉了，我该怎么办?          如果信用卡逾期被起诉了，那么要积极面对，一定要去应诉，否则你被直接判决或者说失信，执行的概率会大大提升。</vt:lpstr>
      <vt:lpstr>41、信用卡逾期后，电话一直没有敢接，还换号码了，银行会怎么做？         如果你信用卡逾期以后一直处于失联状态，那么你被起诉的概率会大大增加，如果严重一点讲甚至银行完全可以以信用卡诈骗的方式来刑事起诉，所以不建议失联换号码。  42、网贷逾期会上门吗？         合法合规的网贷平台，那么他们去上门了解情况是没有任何问题的，另外一般不合法不合规的网络贷款平台不会上门。  43、信用卡逾期以后，如何避免上门？         最好的避免上门的方式是主动联系对方，让对方上门了解情况，因为你越害怕什么行为，催收有可能会通过这样的行为来给你施加压力。  44、信用卡逾期后，银行上门，我该怎么做？         银行上门以后，作为持卡人不需要逃避，不需要害怕，你只需要光明正大的让对方出具相应的委托函，和催款方的身份证明，积极把自己的情况和对方反馈，同时争取相应的债务分期的方案。  45、信用卡欠多少钱，才会立案？         信用卡欠多少钱才会立案？这个没有一个确切的数据，包括信用卡民事起诉，银行也会综合考量各方面的原因，比如说你的负债原因以及逾期时间和金额等，逾期以后和银行以及催收方的沟通情况等。   46、信用卡逾期后，银行说我套现违法，我该怎么办?         从法律角度，持卡人通过信用卡套现，一方面是因为这种现象普遍存在，另外一方面这种行为的存在多方都是有责任的。从目前的社会情况来看，套现的比例并不低。</vt:lpstr>
      <vt:lpstr> 47、信用卡逾期后，银行要到单位怎么办？         信用卡逾期以后，如果对方需要去公司了解情况，其实这个并不用害怕或者说逃避。如果害怕或者说逃避，那么对自己的不利影响会影响到最大。主动和对方约地方和时间。同时很坦诚的面对自己的债务，说明自己的收入情况和负债情况即可。  48、信用卡逾期后，是不是每月还100 就没事了?         很多人会错误地认为，逾期以后每个月还一点就没事了，但从我们目前服务的客户来看，这并不构成银行不会起诉你的一个筹码。同时三个月之内，其实你每个月还的钱都是先抵充利息和违约金的。  49、信用卡逾期后，我每天赚钱都还一点，还会坐牢吗？         只要你积极的面对自己的债务，不构成信用卡诈骗，不管你是还多少一般而言都不会坐牢，不过并不排除会民事起诉。  50、信用卡一家逾期了，其他会被封卡降额吗？         一般而言，如果你的负债率偏高，那么根据央行的大数据很有可能导致你的部分信用卡降额，如果你已经有信用卡逾期了，那么其他银行的信用卡一般而言会陆续降额或者说封卡。  51、信用卡一家起诉我了，其他的是不是也会起诉我？         很多人会遇到说信用卡逾期了会有多家银行联合起诉的这种说法，其实银行会不会起诉，取决于每家银行，取决每家银行对你的综合考量以及做的决定。  52、信用卡网贷逾期后，如何知道我是不是被失信执行了？         查看自己有没有被失信执行，首先你有没有正式收到传票或者说法院官方的短信，同时你也可以通过法院的官网或者查询网站查询。</vt:lpstr>
      <vt:lpstr>53、信用卡网贷逾期后，征信花了，怎么办?         一般央行的征信大数据会保留五年，所以你逾期以后五年才有可能消除你的记录，不过当你把所有的债务还完，你的征信报告里面显示已经全部结清，部分金融机构在查看你的征信的时候可能只看最近一年和两年，如果最近的一两年没有相关的违约记录，那么不会影响你和金融机关的借贷关系。   54、信用卡网贷逾期后，没有收到传票，我怎么收到判决书了？         如果没有收到传票，但是收到了判决书，很有可能是你缺席判决，你可以拨打判决书里面的法院官方号码。  55、信用卡逾期起诉后，是不是可以只还本金？         信用卡逾期被起诉以后很多人会错误地认为只需要还本金， 其实信用卡发卡银行对于每个人被起诉以后都是有一个底线的，每个人的情况也不一样，有些人需要还本金，有些人可能需要还合规的利息，有些人还需要承担相应的违约金和利息。  56、信用卡网贷逾期后，催收上门了，我要不要开门？         催收上门了，其实你应该积极面对，同时让对方出具相应的委托文件，没有必要说通过不开门来逃避问题。  57、信用卡逾期后，银行什么样的情况会起诉?         银行决定是否起诉信用卡逾期的客户取决于多方面的原因，包括你的负债原因，负债金额，逾期以后的催收情况沟通情况，你本人面对债务的一个态度情况。  58、信用卡网贷逾期后，催收说的可以帮你减免，真的吗？         不管催收给你什么样的承诺，你一定要通过官方的电话去核实信息的真假，避免自己遭遇被套路的损失。</vt:lpstr>
      <vt:lpstr>59、信用卡网贷逾期后，催收说的可以帮你恢复额度，真的吗？         一般而言，如果你的负债率很高，甚至有很多已经逾期了，催收和你说可以恢复额度，一般而言是不靠谱的。  60、信用卡网贷逾期后，催收为什么老是说，你拒绝偿还？         在催收的过程当中，很多催收会故意给借款人一些错误的定性，比如说故意不还钱，恶意不还，所以在面对这种的情况下，你一定要保留好相应的自己主动还款的通话记录或者说短信等。  61、信用卡网贷逾期后，催收说下午5 点之前还，否则下一步走 程序，啥意思？         其实催收口中的下一步程序只是催收程序的下一步，并不是公安机关的下一步，很多人会错误的认为下一步程序就是坐牢或者说刑事起诉。  62、信用卡网贷逾期后，法院强制执行会怎么操作？         法院强制执行以后可能会查封你的资产，冻结你的银行卡支付宝或者说微信，并且你有责任每月上报自己的收入情况。  63、信用卡网贷逾期后，黑名单还可以买火车票吗？         如果你已经被失信执行那么是不能够购买飞机票或者说高铁票的，但是一般的火车票还是没有问题的，你可以通过12306 的APP 查询自己是否能够购票。  64、信用卡网贷逾期后，我欠的钱，父母要为我还吗？         从法律上讲你欠的钱你的父母没有义务去给你偿还，除非他们是你的担保人。但是一般信用卡或者说其他的信用贷款并不是通过担保借的款。 </vt:lpstr>
      <vt:lpstr> 65、信用卡网贷逾期后，银行为啥不给我停止利息还本金         银行对于逾期的客户肯定需要通过惩罚性的一些利息和违约金去避免逾期这种事情的发生，所以他们不可能说你逾期以后帮你停止利息只还本金，除非你能够一次性结清。  66、信用卡逾期会影响孩子上学吗？          信用卡逾期，如果没被法院起诉正式判决，对个人不会有太大影响，最大的影响是和金融机构之间的借贷影响，很难再贷款，至于对孩子的影响在于被判决失信执行后，会对高消费，比如孩子上高端的私立学校会有一定的限制。  67、信用卡逾期到底什么样的情况是正式起诉？          信用卡逾期以后银行是否起诉取决于多方面的原因，包括你的负债原因、负债金额、目前的收入情况、资产负债情况、逾期以后的沟通情况等等。  68、信用卡逾期，被起诉后要给起诉费吗？          信用卡逾期被起诉以后，你需要承担一部分的起诉费用，一般从几百到几千不等。  69、网贷逾期后，催收让我信用卡套现还，我要这么做吗?          如果催收有这样的行为，那么你可以保留好相应的证据，这种行为是违规的。  70、有人说网贷可以借了不还，可信吗？          不管是什么借款，借了钱肯定是要还的，那些说你借了可以不还的人，那么肯定是有自己的不轨的企图，千万不要相信。  </vt:lpstr>
      <vt:lpstr>71、不上征信网贷就不用还，是吗？          有些人会错误地认为不上征信的网贷就不用还，这里面是因为很多人被暴力催收了，所以导致了这种不还款的情绪，那么后面的催收还会继续，债权一直存在，除非人家放弃了这笔钱，否则人家还是会继续催收，那么最大的损失还是自己。  72、信用卡网贷逾期后，我想强制上岸，可以吗？         很多人认为强制上岸就可以了，其实这是一种最愚蠢的做法，因为如果你这样做，那么你不可避免的会被暴力催收，你的家人亲戚朋友会接到无数的催收的电话。  73、信用卡网贷逾期后，每天一大堆电话，到底要不要接？          信用卡逾期以后，如果电话太多，那么你可以选择性接听，不过你之前需要和银行备注好什么时候能够接听电话？什么时候不能？同时保存此段通话录音，以避免银行或者催收控告，你恶意不接电话。  74、信用卡网贷逾期后，银行委托的第三方公司是什么意思?         银行委托的第三方，通俗一点讲就是银行的外包催收公司，银行为了降低自己的催收成本和法律风险，会把这部分催收工作委托给专门儿的公司来处理。  75、上征信的信用卡逾期会影响领结婚证吗？          信用卡逾期和你结婚证领取没有太大关系，就算你信用卡逾期，你也是可以结婚领结婚证的。  76、网贷为什么会知道我通讯录其他人的信息？给他们打电话          很多人很困惑，为什么自己的手机号码没有向任何人泄露？怎么会被催收呢？因为目前处于大数据时代，个人的隐私变得越来越透明，催收公司会通过和大数据公司的合作来获取你个人的数据。  </vt:lpstr>
      <vt:lpstr>77、信用卡网贷逾期后，银行去村委调查我的信息合法吗？         银行去户籍地了解你的情况，尤其是通过村委会来了解你的个人信息，这里边是否合法合规取决于他们的一些沟通行为，以及之前你和银行包括催但是如果你这笔钱不还的话收公司的一个沟通情况，如果你一直失联逃避，那么他们这样的做法你没有任何理由去反驳。  78、信用卡网贷逾期后，银行到公司了解我的情况合规吗？          银行到你的公司了解你的个人情况，一般而言是没有太大问题。但是为了避免对于你个人名誉和工作造成的影响，我们建议你提前和银行沟通，主动和他们见面，那么地址你可以自己选择，掌握一定的主动权，避免不必要的损失。  79、为啥我的信用卡逾期后，会越还越多？          信用卡逾期以后三个月之内你还款的金额都是先抵充利息违约金手续费，所以这个时候你的本金并没有减少，但是你一但逾期每个月都会产生利息和违约金，以及之前分期手续费后面没有还清的，这些都会算到你的账单里面。一般而言你每个月的违约金和利息，如果你已经没有最低还款了，那么这个比例大概是6.5%左右，综合年化达到80%以上，所以你的感觉是钱越还越多。  80、信用卡网贷逾期后，催收敢上门，我就打断他的腿，这种想法对吗？          其实很多催收或者说银行上门的这些行为，如果按照法律法规的流程来走，那么并没有任何问题，没有必要通过暴力冲突导致双方的关系更加僵化，或者说避免一些不可控的事情发生，我们应该以合法合规的方式来处理这个问题。  81、信用卡还没有逾期，我最低还款，算逾期吗？          如果你信用卡没有逾期，但是你有最低还款，而且你已经全部还了，那么这个不构成逾期，但是每个月会产生一定的利息，具体利息金额的多少，你可以在下一笔账单的明细里面查看。  </vt:lpstr>
      <vt:lpstr>82、信用卡我还不上了，我用POS 机或者代还软件可以吗？          如果你信用卡或者信用卡里面贷款还没有逾期，那么你有两个选择，第一个是继续借钱，还最低还款，或者说通过POS 机等软件的方式来还，这样的方式能够保证你不逾期，但是这样的方式会增加你每个月的手续费和利息，年化可以达到15%到20%，如果你有十万，那每年的利息和手续费达到15000 到20000。债少少只能帮助已经逾期的客户做停息，再分期，这样做的好处是你不会有再新的违约金利息产生，但是你需要具备10%的服务费和律师费，同时，我们可以帮你分期2-5 年，确保你每个月的收入能够覆盖还款，同时你的征信会有一条逾期记录，但是这个逾期记录和失信执行黑名单不同，他不会影响你的任何消费，只会影响你和银行之间的贷款问题，但是话说回来，就算你没有逾期，你的负债率很高，也很难从银行贷款。  83、信用卡逾期，如何才能不坐牢？          一般而言，信用卡逾期以后如果你能够主动积极地和银行沟通，表达自己的还款意愿，向对方说清楚自己的负债情况和收入情况，并不构成信用卡诈骗，那么也就不会有坐牢的问题。  84、网贷的合规利息如何计算？          网贷的合规利息一般按照到手金额每年最多24%的利息计算，比如说你到手金额1 万块钱，那么一年最多的利息是2400 块钱。  85、有些网贷的保险费是怎么一回事？          部分网络贷款平台有保险费，这个保险费是由借款人承担，如果借款人最后逾期还不上款项达到一定时间，保险公司会把借款人的这笔钱还给贷款平台。但是，保险公司会依旧向借款人催收这笔款项，从公平角度来看是有失公允的 。</vt:lpstr>
      <vt:lpstr>86、信用卡逾期后，哪些做法是对我最不利的？          信用卡逾期以后失联逃避和催收互相对骂，这些是最不可取的，所以大家切记逾期以后一定要通过合法合规的方式来沟通，避免浪费自己的时间和影响自己的生活，影响自己的心情。  87、信用卡逾期后，银行是如何掌握话语权，对我最不利的？          信用卡逾期以后，你的每一笔消费情况，你和银行的每一笔沟通情况，银行都会有相应的材料和证据保留，包括你的每一通电话，每一个短信，如果你存在把信用卡的资金用于非法用途的，从法律上讲银行是可以以信用卡恶意透支起诉，面对信用卡逾期一定要积极面对而不是逃避。  88、信用卡有些逾期，有些没有逾期，我要保住没有逾期的吗？          一般而言，如果你已经有一张信用卡逾期，那么央行的大数据是可以监测到，同时这一部分数据是被其他银行所共享，那么为了避免自己的资金风险，银行很有可能降低你的其他信用卡的额度或者说封卡，如果其他信用卡你继续通过一定的方式最低还款和分期还款或者说以贷还款的方式，那么很有可能导致你的债务规模越来越大。  89、信用卡网贷逾期后，为什么我的欠款会越还越多？          不管是信用卡还是网络贷款，逾期以后一定会产生相应的违约金和利息，如果你不掌握住正确的还款方式及时止损的话，那么你的违约金利息会越来越多，同时你的债务规模会越来越大。  90、网贷不还会怎么样?          网络贷款，如果你不还款，或者说有些人想强上岸，那么你的亲戚朋友极大可能会遭遇催收公司的骚扰，是一种极不可取的行为。</vt:lpstr>
      <vt:lpstr>91、 网贷刚刚逾期就说要起诉我，真的吗？          一般而言，网络贷款平台不会起诉，因为网络贷款平台的借款人比较分散，所以平台起诉的成本较高，另外部分网络贷款平台本身就有一定的违法违规行为，比如超过了国家法定利息，违规的催收行为，公司内部违法行为。   92、信用卡刚还就降额怎么办?          信用卡还完被降额了，很大程度上是因为你目前的负债率比较高，或者说你使用了相应的违规的套现软件，被银行风控或者说你使用的相关软件侵犯了银行的信用卡收益。如果你被降额了，而且资金也一下子很难还清，那么这个时候最好的办法是和银行协商分期还款。如果个人具备一定的谈用心、专业、靠谱的债事服务平台判能力，并且逾期以后银行有相应的违规行为，自己可以和银行沟通，如果不行那么可以找我们。   93、信用卡网贷逾期后，被判决了，我啥都没有，会怎么样？          如果被法院强制执行，而你什么资产也没有，法院很有可能冻结你所有的银行卡账户，微信支付宝账户等等。其实如果你是真实的，负债率非常高，而且没有任何资产，那么你可以在前期和银行友好沟通，可以很大程度上避免被起诉，被判决被失信，执行这种事情的发生。  94、信用卡网贷逾期后，我欠债，老婆需要承担连带责任吗？          如果是个人和银行之间的欠款，如果你自己能够出具相应的这笔款项，没有用于家庭的夫妻的共同支出的话，并且另外一半也毫不知情的情况下，是没有义务去还这笔款项的，除非另外一半是你的担保人。  95、信用卡网贷逾期后，换号码失联是不是就可以躲掉债务？          如果债务逾期，换号码失联是没有办法逃避你的债务的。还有可能催收的对象会由你改为你的家人或者朋友。这样对于你个人的名誉损失会极大增加，通过友好积极面对的态度，可以最大可能的避免这种事情的发生。</vt:lpstr>
      <vt:lpstr>96、信用卡网贷逾期后，我唯一的一套住房要过户吗？如何防止被强制执行？          对于只拥有一套住房，信用卡或者说网络贷款逾期的这种情况，我们建议尽可能的避免被起诉。那么怎么样避免被起诉呢？友好的和债权方沟通，不逃避说清楚自己的实际情况，负债情况和收入情况。如果是重大疾病等特殊状况导致的负债，需要提前和债权方沟通，并且准备好相应的证明材料。大家记住越是逃避，可能对自己越为不利。   97、信用卡网贷逾期后，负债累累，怎么样才能迅速上岸?         负债累累迅速上岸，一夜暴富是不可能的，所以面对债务逾期，脚踏实地树立好平和良好的心态去面对，同时梳理好自己的负债详细情况，不断地去提升自己的能力，从而提升自己的收入水平，一步一步脚踏实地才是上岸的不二途径。  98、市面的社交电商，迅速上岸的模式，阿飞你怎么看?          其实我们很多人负债逾期很大程度上是因为自己对一些项目的判断不足，那么你负债逾期以后更加要注意去判断一些项目的可行性，我们目前有很多社交电商的模式也好，其他的模式也好，你千万要记住不管做什么样的项目你的销售能力，你团队搭建的能力，你个人的影响力，项目本身的竞争力决定了这个项目能不能够提升你的收入，千万不要相信那些让你一夜暴富的项目，否则只会让自己越陷越深。  99、信用卡网贷逾期后，负债人，最迅速的上岸思路是什么？          很多人负债比较高，通过一般的上班可能很难还完，这个时候你只能通过做生意做买卖做销售的方式来翻身，但是你项目本身的竞争力，你获得客户的成本，获得客户的能力，你成交的能力是你千万要注意的，自媒体其实是一个很好的获得客户的工具，不能说自媒体能够让你一夜翻身，但是他们给我大大提升你的翻身速度，你需要的是独立判断，不断学习，不断坚持优化调整。</vt:lpstr>
      <vt:lpstr>100、给债务人忠告有哪些？              </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PC</dc:creator>
  <cp:lastModifiedBy>PC</cp:lastModifiedBy>
  <cp:revision>41</cp:revision>
  <dcterms:created xsi:type="dcterms:W3CDTF">2019-10-02T04:41:03Z</dcterms:created>
  <dcterms:modified xsi:type="dcterms:W3CDTF">2019-10-03T02:24:35Z</dcterms:modified>
</cp:coreProperties>
</file>